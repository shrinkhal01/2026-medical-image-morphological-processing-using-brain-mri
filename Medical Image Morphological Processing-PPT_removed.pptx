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B2B2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B2B2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863" y="7067847"/>
            <a:ext cx="17308373" cy="1884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6598" y="1086088"/>
            <a:ext cx="10268452" cy="75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4226" y="3933514"/>
            <a:ext cx="8252459" cy="4705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B2B2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2905670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39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43814" y="2828182"/>
            <a:ext cx="803148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618355" algn="l"/>
              </a:tabLst>
            </a:pPr>
            <a:r>
              <a:rPr dirty="0" sz="1900" spc="-150">
                <a:solidFill>
                  <a:srgbClr val="FFFFFF"/>
                </a:solidFill>
                <a:latin typeface="Arial MT"/>
                <a:cs typeface="Arial MT"/>
              </a:rPr>
              <a:t>l'•t</a:t>
            </a:r>
            <a:r>
              <a:rPr dirty="0" sz="1900" spc="-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.TECH</a:t>
            </a:r>
            <a:r>
              <a:rPr dirty="0" sz="1900" spc="-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70">
                <a:solidFill>
                  <a:srgbClr val="FFFFFF"/>
                </a:solidFill>
                <a:latin typeface="Arial MT"/>
                <a:cs typeface="Arial MT"/>
              </a:rPr>
              <a:t>All‘•t</a:t>
            </a:r>
            <a:r>
              <a:rPr dirty="0" sz="1900" spc="-2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dirty="0" sz="19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r>
              <a:rPr dirty="0" sz="1900" spc="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95">
                <a:solidFill>
                  <a:srgbClr val="FFFFFF"/>
                </a:solidFill>
                <a:latin typeface="Arial MT"/>
                <a:cs typeface="Arial MT"/>
              </a:rPr>
              <a:t>COI‘•t</a:t>
            </a:r>
            <a:r>
              <a:rPr dirty="0" sz="1900" spc="-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14">
                <a:solidFill>
                  <a:srgbClr val="FFFFFF"/>
                </a:solidFill>
                <a:latin typeface="Arial MT"/>
                <a:cs typeface="Arial MT"/>
              </a:rPr>
              <a:t>PUTER</a:t>
            </a:r>
            <a:r>
              <a:rPr dirty="0" sz="19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VISION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900" spc="-245">
                <a:solidFill>
                  <a:srgbClr val="7B7B7B"/>
                </a:solidFill>
                <a:latin typeface="Arial MT"/>
                <a:cs typeface="Arial MT"/>
              </a:rPr>
              <a:t>Uni</a:t>
            </a:r>
            <a:r>
              <a:rPr dirty="0" sz="1900" spc="-245">
                <a:solidFill>
                  <a:srgbClr val="808CA3"/>
                </a:solidFill>
                <a:latin typeface="Arial MT"/>
                <a:cs typeface="Arial MT"/>
              </a:rPr>
              <a:t>-</a:t>
            </a:r>
            <a:r>
              <a:rPr dirty="0" sz="1900">
                <a:solidFill>
                  <a:srgbClr val="7B7B7B"/>
                </a:solidFill>
                <a:latin typeface="Arial MT"/>
                <a:cs typeface="Arial MT"/>
              </a:rPr>
              <a:t>t</a:t>
            </a:r>
            <a:r>
              <a:rPr dirty="0" sz="1900" spc="-5">
                <a:solidFill>
                  <a:srgbClr val="7B7B7B"/>
                </a:solidFill>
                <a:latin typeface="Arial MT"/>
                <a:cs typeface="Arial MT"/>
              </a:rPr>
              <a:t>  </a:t>
            </a:r>
            <a:r>
              <a:rPr dirty="0" sz="1900">
                <a:solidFill>
                  <a:srgbClr val="8E9CAC"/>
                </a:solidFill>
                <a:latin typeface="Arial MT"/>
                <a:cs typeface="Arial MT"/>
              </a:rPr>
              <a:t>I</a:t>
            </a:r>
            <a:r>
              <a:rPr dirty="0" sz="1900" spc="320">
                <a:solidFill>
                  <a:srgbClr val="8E9CAC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AAAAAA"/>
                </a:solidFill>
                <a:latin typeface="Arial MT"/>
                <a:cs typeface="Arial MT"/>
              </a:rPr>
              <a:t>Mathematical</a:t>
            </a:r>
            <a:r>
              <a:rPr dirty="0" sz="1900" spc="-8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AAAAAA"/>
                </a:solidFill>
                <a:latin typeface="Arial MT"/>
                <a:cs typeface="Arial MT"/>
              </a:rPr>
              <a:t>Morphology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3753812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84334" y="3487193"/>
            <a:ext cx="11496675" cy="10464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700" spc="125">
                <a:solidFill>
                  <a:srgbClr val="FFFFFF"/>
                </a:solidFill>
              </a:rPr>
              <a:t>Medical</a:t>
            </a:r>
            <a:r>
              <a:rPr dirty="0" sz="6700" spc="-114">
                <a:solidFill>
                  <a:srgbClr val="FFFFFF"/>
                </a:solidFill>
              </a:rPr>
              <a:t> </a:t>
            </a:r>
            <a:r>
              <a:rPr dirty="0" sz="6700">
                <a:solidFill>
                  <a:srgbClr val="FFFFFF"/>
                </a:solidFill>
              </a:rPr>
              <a:t>Image</a:t>
            </a:r>
            <a:r>
              <a:rPr dirty="0" sz="6700" spc="-100">
                <a:solidFill>
                  <a:srgbClr val="FFFFFF"/>
                </a:solidFill>
              </a:rPr>
              <a:t> </a:t>
            </a:r>
            <a:r>
              <a:rPr dirty="0" sz="6700" spc="175">
                <a:solidFill>
                  <a:srgbClr val="FFFFFF"/>
                </a:solidFill>
              </a:rPr>
              <a:t>Morphological</a:t>
            </a:r>
            <a:endParaRPr sz="6700"/>
          </a:p>
        </p:txBody>
      </p:sp>
      <p:sp>
        <p:nvSpPr>
          <p:cNvPr id="6" name="object 6"/>
          <p:cNvSpPr/>
          <p:nvPr/>
        </p:nvSpPr>
        <p:spPr>
          <a:xfrm>
            <a:off x="15706" y="4696192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83097" y="4438080"/>
            <a:ext cx="10698480" cy="10267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50" spc="90">
                <a:solidFill>
                  <a:srgbClr val="FFFFFF"/>
                </a:solidFill>
                <a:latin typeface="Arial MT"/>
                <a:cs typeface="Arial MT"/>
              </a:rPr>
              <a:t>Processing</a:t>
            </a:r>
            <a:r>
              <a:rPr dirty="0" sz="6550" spc="4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50" spc="95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65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50" spc="145">
                <a:solidFill>
                  <a:srgbClr val="FFFFFF"/>
                </a:solidFill>
                <a:latin typeface="Arial MT"/>
                <a:cs typeface="Arial MT"/>
              </a:rPr>
              <a:t>Brain</a:t>
            </a:r>
            <a:r>
              <a:rPr dirty="0" sz="65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550" spc="-75">
                <a:solidFill>
                  <a:srgbClr val="FFFFFF"/>
                </a:solidFill>
                <a:latin typeface="Arial MT"/>
                <a:cs typeface="Arial MT"/>
              </a:rPr>
              <a:t>MRI</a:t>
            </a:r>
            <a:endParaRPr sz="65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706" y="5905579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706" y="6392475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96500" y="5785894"/>
            <a:ext cx="12555855" cy="953769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2800" spc="-30">
                <a:solidFill>
                  <a:srgbClr val="A7A7A7"/>
                </a:solidFill>
                <a:latin typeface="Arial MT"/>
                <a:cs typeface="Arial MT"/>
              </a:rPr>
              <a:t>Non</a:t>
            </a:r>
            <a:r>
              <a:rPr dirty="0" sz="2800" spc="-450">
                <a:solidFill>
                  <a:srgbClr val="A7A7A7"/>
                </a:solidFill>
                <a:latin typeface="Arial MT"/>
                <a:cs typeface="Arial MT"/>
              </a:rPr>
              <a:t> </a:t>
            </a:r>
            <a:r>
              <a:rPr dirty="0" sz="2800" spc="135">
                <a:solidFill>
                  <a:srgbClr val="344459"/>
                </a:solidFill>
                <a:latin typeface="Arial MT"/>
                <a:cs typeface="Arial MT"/>
              </a:rPr>
              <a:t>-</a:t>
            </a:r>
            <a:r>
              <a:rPr dirty="0" sz="2800">
                <a:solidFill>
                  <a:srgbClr val="AAAAAA"/>
                </a:solidFill>
                <a:latin typeface="Arial MT"/>
                <a:cs typeface="Arial MT"/>
              </a:rPr>
              <a:t>le</a:t>
            </a:r>
            <a:r>
              <a:rPr dirty="0" sz="2800">
                <a:solidFill>
                  <a:srgbClr val="ACACAC"/>
                </a:solidFill>
                <a:latin typeface="Arial MT"/>
                <a:cs typeface="Arial MT"/>
              </a:rPr>
              <a:t>arning</a:t>
            </a:r>
            <a:r>
              <a:rPr dirty="0" sz="2800" spc="140">
                <a:solidFill>
                  <a:srgbClr val="ACACAC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9AAABA"/>
                </a:solidFill>
                <a:latin typeface="Arial MT"/>
                <a:cs typeface="Arial MT"/>
              </a:rPr>
              <a:t>OpenCV</a:t>
            </a:r>
            <a:r>
              <a:rPr dirty="0" sz="2800" spc="130">
                <a:solidFill>
                  <a:srgbClr val="9AAABA"/>
                </a:solidFill>
                <a:latin typeface="Arial MT"/>
                <a:cs typeface="Arial MT"/>
              </a:rPr>
              <a:t> </a:t>
            </a:r>
            <a:r>
              <a:rPr dirty="0" sz="2800" spc="55">
                <a:solidFill>
                  <a:srgbClr val="A8A8A8"/>
                </a:solidFill>
                <a:latin typeface="Arial MT"/>
                <a:cs typeface="Arial MT"/>
              </a:rPr>
              <a:t>pipeline</a:t>
            </a:r>
            <a:r>
              <a:rPr dirty="0" sz="2800" spc="17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800" spc="50">
                <a:solidFill>
                  <a:srgbClr val="AAAAAA"/>
                </a:solidFill>
                <a:latin typeface="Arial MT"/>
                <a:cs typeface="Arial MT"/>
              </a:rPr>
              <a:t>for</a:t>
            </a:r>
            <a:r>
              <a:rPr dirty="0" sz="2800" spc="1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800" spc="-55">
                <a:solidFill>
                  <a:srgbClr val="8EA3B1"/>
                </a:solidFill>
                <a:latin typeface="Arial MT"/>
                <a:cs typeface="Arial MT"/>
              </a:rPr>
              <a:t>st</a:t>
            </a:r>
            <a:r>
              <a:rPr dirty="0" sz="2800" spc="-395">
                <a:solidFill>
                  <a:srgbClr val="8EA3B1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AEAEAE"/>
                </a:solidFill>
                <a:latin typeface="Arial MT"/>
                <a:cs typeface="Arial MT"/>
              </a:rPr>
              <a:t>ructural</a:t>
            </a:r>
            <a:r>
              <a:rPr dirty="0" sz="2800" spc="100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800" spc="100">
                <a:solidFill>
                  <a:srgbClr val="939ABA"/>
                </a:solidFill>
                <a:latin typeface="Arial MT"/>
                <a:cs typeface="Arial MT"/>
              </a:rPr>
              <a:t>seg</a:t>
            </a:r>
            <a:r>
              <a:rPr dirty="0" sz="2800" spc="100">
                <a:solidFill>
                  <a:srgbClr val="A0A0A0"/>
                </a:solidFill>
                <a:latin typeface="Arial MT"/>
                <a:cs typeface="Arial MT"/>
              </a:rPr>
              <a:t>ment</a:t>
            </a:r>
            <a:r>
              <a:rPr dirty="0" sz="2800" spc="-40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9C9C9C"/>
                </a:solidFill>
                <a:latin typeface="Arial MT"/>
                <a:cs typeface="Arial MT"/>
              </a:rPr>
              <a:t>at</a:t>
            </a:r>
            <a:r>
              <a:rPr dirty="0" sz="2800" spc="-40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A1A1A1"/>
                </a:solidFill>
                <a:latin typeface="Arial MT"/>
                <a:cs typeface="Arial MT"/>
              </a:rPr>
              <a:t>ion.</a:t>
            </a:r>
            <a:r>
              <a:rPr dirty="0" sz="2800" spc="-7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AAAAAA"/>
                </a:solidFill>
                <a:latin typeface="Arial MT"/>
                <a:cs typeface="Arial MT"/>
              </a:rPr>
              <a:t>binarizat</a:t>
            </a:r>
            <a:r>
              <a:rPr dirty="0" sz="2800" spc="-17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AAAAAA"/>
                </a:solidFill>
                <a:latin typeface="Arial MT"/>
                <a:cs typeface="Arial MT"/>
              </a:rPr>
              <a:t>ion.</a:t>
            </a:r>
            <a:r>
              <a:rPr dirty="0" sz="2800" spc="-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800" spc="-25">
                <a:solidFill>
                  <a:srgbClr val="A3A3A3"/>
                </a:solidFill>
                <a:latin typeface="Arial MT"/>
                <a:cs typeface="Arial MT"/>
              </a:rPr>
              <a:t>and</a:t>
            </a:r>
            <a:endParaRPr sz="28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200"/>
              </a:spcBef>
            </a:pPr>
            <a:r>
              <a:rPr dirty="0" sz="2950">
                <a:solidFill>
                  <a:srgbClr val="A5A5A5"/>
                </a:solidFill>
                <a:latin typeface="Arial MT"/>
                <a:cs typeface="Arial MT"/>
              </a:rPr>
              <a:t>boundary</a:t>
            </a:r>
            <a:r>
              <a:rPr dirty="0" sz="2950" spc="-4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ACACAC"/>
                </a:solidFill>
                <a:latin typeface="Arial MT"/>
                <a:cs typeface="Arial MT"/>
              </a:rPr>
              <a:t>extraction.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06" y="7994521"/>
            <a:ext cx="20080605" cy="526415"/>
          </a:xfrm>
          <a:custGeom>
            <a:avLst/>
            <a:gdLst/>
            <a:ahLst/>
            <a:cxnLst/>
            <a:rect l="l" t="t" r="r" b="b"/>
            <a:pathLst>
              <a:path w="20080605" h="526415">
                <a:moveTo>
                  <a:pt x="20080541" y="526162"/>
                </a:moveTo>
                <a:lnTo>
                  <a:pt x="0" y="52616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2616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06005" y="7917032"/>
            <a:ext cx="16592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20">
                <a:solidFill>
                  <a:srgbClr val="FFFFFF"/>
                </a:solidFill>
                <a:latin typeface="Arial MT"/>
                <a:cs typeface="Arial MT"/>
              </a:rPr>
              <a:t>Dataset</a:t>
            </a:r>
            <a:r>
              <a:rPr dirty="0" sz="19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Source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3116" y="7917032"/>
            <a:ext cx="19818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4000" algn="l"/>
                <a:tab pos="795655" algn="l"/>
              </a:tabLst>
            </a:pPr>
            <a:r>
              <a:rPr dirty="0" sz="1900" spc="-48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900" spc="-50">
                <a:solidFill>
                  <a:srgbClr val="FFFFFF"/>
                </a:solidFill>
                <a:latin typeface="Arial MT"/>
                <a:cs typeface="Arial MT"/>
              </a:rPr>
              <a:t>›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900" spc="-30">
                <a:solidFill>
                  <a:srgbClr val="FFFFFF"/>
                </a:solidFill>
                <a:latin typeface="Arial MT"/>
                <a:cs typeface="Arial MT"/>
              </a:rPr>
              <a:t>Core</a:t>
            </a:r>
            <a:r>
              <a:rPr dirty="0" sz="1900" spc="-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Stack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9276" y="723534"/>
            <a:ext cx="201168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10">
                <a:solidFill>
                  <a:srgbClr val="0079C1"/>
                </a:solidFill>
                <a:latin typeface="Arial MT"/>
                <a:cs typeface="Arial MT"/>
              </a:rPr>
              <a:t>PROJ</a:t>
            </a:r>
            <a:r>
              <a:rPr dirty="0" sz="1900" spc="-285">
                <a:solidFill>
                  <a:srgbClr val="0079C1"/>
                </a:solidFill>
                <a:latin typeface="Arial MT"/>
                <a:cs typeface="Arial MT"/>
              </a:rPr>
              <a:t> </a:t>
            </a:r>
            <a:r>
              <a:rPr dirty="0" sz="1900" spc="-40">
                <a:solidFill>
                  <a:srgbClr val="0A80BD"/>
                </a:solidFill>
                <a:latin typeface="Arial MT"/>
                <a:cs typeface="Arial MT"/>
              </a:rPr>
              <a:t>ECT </a:t>
            </a:r>
            <a:r>
              <a:rPr dirty="0" sz="1900" spc="-114">
                <a:solidFill>
                  <a:srgbClr val="1F7CAC"/>
                </a:solidFill>
                <a:latin typeface="Arial MT"/>
                <a:cs typeface="Arial MT"/>
              </a:rPr>
              <a:t>SC</a:t>
            </a:r>
            <a:r>
              <a:rPr dirty="0" sz="1900" spc="-260">
                <a:solidFill>
                  <a:srgbClr val="1F7CAC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1180A5"/>
                </a:solidFill>
                <a:latin typeface="Arial MT"/>
                <a:cs typeface="Arial MT"/>
              </a:rPr>
              <a:t>OPE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35"/>
              </a:spcBef>
            </a:pPr>
            <a:r>
              <a:rPr dirty="0" sz="4600" spc="130"/>
              <a:t>Mathematical</a:t>
            </a:r>
            <a:r>
              <a:rPr dirty="0" sz="4600" spc="310"/>
              <a:t> </a:t>
            </a:r>
            <a:r>
              <a:rPr dirty="0" sz="4600" spc="114">
                <a:solidFill>
                  <a:srgbClr val="111111"/>
                </a:solidFill>
              </a:rPr>
              <a:t>Morphologg</a:t>
            </a:r>
            <a:r>
              <a:rPr dirty="0" sz="4600" spc="430">
                <a:solidFill>
                  <a:srgbClr val="111111"/>
                </a:solidFill>
              </a:rPr>
              <a:t> </a:t>
            </a:r>
            <a:r>
              <a:rPr dirty="0" sz="4600" spc="50">
                <a:solidFill>
                  <a:srgbClr val="0C0C0C"/>
                </a:solidFill>
              </a:rPr>
              <a:t>Objectives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1383555" y="6138703"/>
            <a:ext cx="3039745" cy="1530350"/>
          </a:xfrm>
          <a:prstGeom prst="rect">
            <a:avLst/>
          </a:prstGeom>
        </p:spPr>
        <p:txBody>
          <a:bodyPr wrap="square" lIns="0" tIns="201295" rIns="0" bIns="0" rtlCol="0" vert="horz">
            <a:spAutoFit/>
          </a:bodyPr>
          <a:lstStyle/>
          <a:p>
            <a:pPr marL="23495" indent="-11430">
              <a:lnSpc>
                <a:spcPct val="100000"/>
              </a:lnSpc>
              <a:spcBef>
                <a:spcPts val="1585"/>
              </a:spcBef>
            </a:pPr>
            <a:r>
              <a:rPr dirty="0" sz="2700">
                <a:solidFill>
                  <a:srgbClr val="111111"/>
                </a:solidFill>
                <a:latin typeface="Arial MT"/>
                <a:cs typeface="Arial MT"/>
              </a:rPr>
              <a:t>Light</a:t>
            </a:r>
            <a:r>
              <a:rPr dirty="0" sz="270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F0F0F"/>
                </a:solidFill>
                <a:latin typeface="Arial MT"/>
                <a:cs typeface="Arial MT"/>
              </a:rPr>
              <a:t>Normalization</a:t>
            </a:r>
            <a:endParaRPr sz="2700">
              <a:latin typeface="Arial MT"/>
              <a:cs typeface="Arial MT"/>
            </a:endParaRPr>
          </a:p>
          <a:p>
            <a:pPr marL="19685" marR="5080" indent="3810">
              <a:lnSpc>
                <a:spcPts val="2840"/>
              </a:lnSpc>
              <a:spcBef>
                <a:spcPts val="1515"/>
              </a:spcBef>
            </a:pPr>
            <a:r>
              <a:rPr dirty="0" sz="2450" spc="-65">
                <a:solidFill>
                  <a:srgbClr val="464646"/>
                </a:solidFill>
                <a:latin typeface="Arial MT"/>
                <a:cs typeface="Arial MT"/>
              </a:rPr>
              <a:t>Standardized</a:t>
            </a:r>
            <a:r>
              <a:rPr dirty="0" sz="2450" spc="-8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256x256 </a:t>
            </a:r>
            <a:r>
              <a:rPr dirty="0" sz="2450" spc="-65">
                <a:solidFill>
                  <a:srgbClr val="444444"/>
                </a:solidFill>
                <a:latin typeface="Arial MT"/>
                <a:cs typeface="Arial MT"/>
              </a:rPr>
              <a:t>grayscale</a:t>
            </a:r>
            <a:r>
              <a:rPr dirty="0" sz="2450" spc="-10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D4D4D"/>
                </a:solidFill>
                <a:latin typeface="Arial MT"/>
                <a:cs typeface="Arial MT"/>
              </a:rPr>
              <a:t>matrix.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1919" y="5976809"/>
            <a:ext cx="2634615" cy="186817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21590" indent="-9525">
              <a:lnSpc>
                <a:spcPct val="100000"/>
              </a:lnSpc>
              <a:spcBef>
                <a:spcPts val="1375"/>
              </a:spcBef>
            </a:pPr>
            <a:r>
              <a:rPr dirty="0" sz="2700" spc="175">
                <a:solidFill>
                  <a:srgbClr val="050505"/>
                </a:solidFill>
                <a:latin typeface="Calibri"/>
                <a:cs typeface="Calibri"/>
              </a:rPr>
              <a:t>Otsu</a:t>
            </a:r>
            <a:r>
              <a:rPr dirty="0" sz="2700" spc="-11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700" spc="70">
                <a:solidFill>
                  <a:srgbClr val="0F0F0F"/>
                </a:solidFill>
                <a:latin typeface="Calibri"/>
                <a:cs typeface="Calibri"/>
              </a:rPr>
              <a:t>Binarization</a:t>
            </a:r>
            <a:endParaRPr sz="2700">
              <a:latin typeface="Calibri"/>
              <a:cs typeface="Calibri"/>
            </a:endParaRPr>
          </a:p>
          <a:p>
            <a:pPr marL="15240" marR="165735" indent="5715">
              <a:lnSpc>
                <a:spcPts val="2840"/>
              </a:lnSpc>
              <a:spcBef>
                <a:spcPts val="1515"/>
              </a:spcBef>
            </a:pPr>
            <a:r>
              <a:rPr dirty="0" sz="2550" spc="-80">
                <a:solidFill>
                  <a:srgbClr val="494949"/>
                </a:solidFill>
                <a:latin typeface="Arial MT"/>
                <a:cs typeface="Arial MT"/>
              </a:rPr>
              <a:t>Automated </a:t>
            </a:r>
            <a:r>
              <a:rPr dirty="0" sz="2550" spc="-355">
                <a:solidFill>
                  <a:srgbClr val="414141"/>
                </a:solidFill>
                <a:latin typeface="Arial MT"/>
                <a:cs typeface="Arial MT"/>
              </a:rPr>
              <a:t>tissue—</a:t>
            </a:r>
            <a:r>
              <a:rPr dirty="0" sz="2550" spc="-10">
                <a:solidFill>
                  <a:srgbClr val="444444"/>
                </a:solidFill>
                <a:latin typeface="Arial MT"/>
                <a:cs typeface="Arial MT"/>
              </a:rPr>
              <a:t>background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segmentation.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19455" y="6160575"/>
            <a:ext cx="2436495" cy="1508760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560"/>
              </a:spcBef>
            </a:pPr>
            <a:r>
              <a:rPr dirty="0" sz="2550">
                <a:solidFill>
                  <a:srgbClr val="111111"/>
                </a:solidFill>
                <a:latin typeface="Arial MT"/>
                <a:cs typeface="Arial MT"/>
              </a:rPr>
              <a:t>Set</a:t>
            </a:r>
            <a:r>
              <a:rPr dirty="0" sz="2550" spc="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550" spc="95">
                <a:solidFill>
                  <a:srgbClr val="0C0C0C"/>
                </a:solidFill>
                <a:latin typeface="Arial MT"/>
                <a:cs typeface="Arial MT"/>
              </a:rPr>
              <a:t>Morphology</a:t>
            </a:r>
            <a:endParaRPr sz="2550">
              <a:latin typeface="Arial MT"/>
              <a:cs typeface="Arial MT"/>
            </a:endParaRPr>
          </a:p>
          <a:p>
            <a:pPr marL="22225" marR="38100" indent="-10160">
              <a:lnSpc>
                <a:spcPts val="2840"/>
              </a:lnSpc>
              <a:spcBef>
                <a:spcPts val="1550"/>
              </a:spcBef>
            </a:pPr>
            <a:r>
              <a:rPr dirty="0" sz="2450" spc="-95">
                <a:solidFill>
                  <a:srgbClr val="464646"/>
                </a:solidFill>
                <a:latin typeface="Arial MT"/>
                <a:cs typeface="Arial MT"/>
              </a:rPr>
              <a:t>Erosion,</a:t>
            </a:r>
            <a:r>
              <a:rPr dirty="0" sz="2450" spc="-10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64646"/>
                </a:solidFill>
                <a:latin typeface="Arial MT"/>
                <a:cs typeface="Arial MT"/>
              </a:rPr>
              <a:t>Dilation, </a:t>
            </a:r>
            <a:r>
              <a:rPr dirty="0" sz="2450" spc="-45">
                <a:solidFill>
                  <a:srgbClr val="4B4B4B"/>
                </a:solidFill>
                <a:latin typeface="Arial MT"/>
                <a:cs typeface="Arial MT"/>
              </a:rPr>
              <a:t>Opening,</a:t>
            </a:r>
            <a:r>
              <a:rPr dirty="0" sz="2450" spc="-1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494949"/>
                </a:solidFill>
                <a:latin typeface="Arial MT"/>
                <a:cs typeface="Arial MT"/>
              </a:rPr>
              <a:t>Closing.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31186" y="6165285"/>
            <a:ext cx="2994660" cy="1507490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375"/>
              </a:spcBef>
            </a:pPr>
            <a:r>
              <a:rPr dirty="0" sz="2700">
                <a:solidFill>
                  <a:srgbClr val="111111"/>
                </a:solidFill>
                <a:latin typeface="Arial MT"/>
                <a:cs typeface="Arial MT"/>
              </a:rPr>
              <a:t>Boundary</a:t>
            </a:r>
            <a:r>
              <a:rPr dirty="0" sz="2700" spc="-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80808"/>
                </a:solidFill>
                <a:latin typeface="Arial MT"/>
                <a:cs typeface="Arial MT"/>
              </a:rPr>
              <a:t>Search</a:t>
            </a:r>
            <a:endParaRPr sz="2700">
              <a:latin typeface="Arial MT"/>
              <a:cs typeface="Arial MT"/>
            </a:endParaRPr>
          </a:p>
          <a:p>
            <a:pPr marL="24130" marR="5080" indent="-12065">
              <a:lnSpc>
                <a:spcPts val="2840"/>
              </a:lnSpc>
              <a:spcBef>
                <a:spcPts val="1515"/>
              </a:spcBef>
            </a:pPr>
            <a:r>
              <a:rPr dirty="0" sz="2550" spc="-120">
                <a:solidFill>
                  <a:srgbClr val="464646"/>
                </a:solidFill>
                <a:latin typeface="Arial MT"/>
                <a:cs typeface="Arial MT"/>
              </a:rPr>
              <a:t>Internal</a:t>
            </a:r>
            <a:r>
              <a:rPr dirty="0" sz="2550" spc="-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4D4D4D"/>
                </a:solidFill>
                <a:latin typeface="Arial MT"/>
                <a:cs typeface="Arial MT"/>
              </a:rPr>
              <a:t>contour</a:t>
            </a:r>
            <a:r>
              <a:rPr dirty="0" sz="2550" spc="-6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spc="-195">
                <a:solidFill>
                  <a:srgbClr val="525B72"/>
                </a:solidFill>
                <a:latin typeface="Arial MT"/>
                <a:cs typeface="Arial MT"/>
              </a:rPr>
              <a:t>via</a:t>
            </a:r>
            <a:r>
              <a:rPr dirty="0" sz="2550" spc="-160">
                <a:solidFill>
                  <a:srgbClr val="525B72"/>
                </a:solidFill>
                <a:latin typeface="Arial MT"/>
                <a:cs typeface="Arial MT"/>
              </a:rPr>
              <a:t> </a:t>
            </a:r>
            <a:r>
              <a:rPr dirty="0" sz="2550" spc="-90">
                <a:solidFill>
                  <a:srgbClr val="444444"/>
                </a:solidFill>
                <a:latin typeface="Arial MT"/>
                <a:cs typeface="Arial MT"/>
              </a:rPr>
              <a:t>set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difference.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0470" y="3423979"/>
            <a:ext cx="4256414" cy="59684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64460" y="3455392"/>
            <a:ext cx="3918728" cy="59212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0803" y="756255"/>
            <a:ext cx="206121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238AC1"/>
                </a:solidFill>
                <a:latin typeface="Arial MT"/>
                <a:cs typeface="Arial MT"/>
              </a:rPr>
              <a:t>STEP</a:t>
            </a:r>
            <a:r>
              <a:rPr dirty="0" sz="1650" spc="215">
                <a:solidFill>
                  <a:srgbClr val="238AC1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2677BD"/>
                </a:solidFill>
                <a:latin typeface="Arial MT"/>
                <a:cs typeface="Arial MT"/>
              </a:rPr>
              <a:t>O1</a:t>
            </a:r>
            <a:r>
              <a:rPr dirty="0" sz="1650">
                <a:solidFill>
                  <a:srgbClr val="2677BD"/>
                </a:solidFill>
                <a:latin typeface="Arial MT"/>
                <a:cs typeface="Arial MT"/>
              </a:rPr>
              <a:t> </a:t>
            </a:r>
            <a:r>
              <a:rPr dirty="0" sz="1650" spc="-40">
                <a:solidFill>
                  <a:srgbClr val="0085D6"/>
                </a:solidFill>
                <a:latin typeface="Arial MT"/>
                <a:cs typeface="Arial MT"/>
              </a:rPr>
              <a:t>PI</a:t>
            </a:r>
            <a:r>
              <a:rPr dirty="0" sz="1650" spc="-80">
                <a:solidFill>
                  <a:srgbClr val="0085D6"/>
                </a:solidFill>
                <a:latin typeface="Arial MT"/>
                <a:cs typeface="Arial MT"/>
              </a:rPr>
              <a:t> </a:t>
            </a:r>
            <a:r>
              <a:rPr dirty="0" sz="1650" spc="85">
                <a:solidFill>
                  <a:srgbClr val="0090C3"/>
                </a:solidFill>
                <a:latin typeface="Arial MT"/>
                <a:cs typeface="Arial MT"/>
              </a:rPr>
              <a:t>PELI</a:t>
            </a:r>
            <a:r>
              <a:rPr dirty="0" sz="1650" spc="85">
                <a:solidFill>
                  <a:srgbClr val="0A87C6"/>
                </a:solidFill>
                <a:latin typeface="Arial MT"/>
                <a:cs typeface="Arial MT"/>
              </a:rPr>
              <a:t>NE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600" spc="345">
                <a:solidFill>
                  <a:srgbClr val="111111"/>
                </a:solidFill>
                <a:latin typeface="Calibri"/>
                <a:cs typeface="Calibri"/>
              </a:rPr>
              <a:t>Brain</a:t>
            </a:r>
            <a:r>
              <a:rPr dirty="0" sz="4600" spc="-75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4600" spc="120">
                <a:solidFill>
                  <a:srgbClr val="161616"/>
                </a:solidFill>
                <a:latin typeface="Calibri"/>
                <a:cs typeface="Calibri"/>
              </a:rPr>
              <a:t>MRI</a:t>
            </a:r>
            <a:r>
              <a:rPr dirty="0" sz="4600" spc="16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4600" spc="315">
                <a:solidFill>
                  <a:srgbClr val="111111"/>
                </a:solidFill>
                <a:latin typeface="Calibri"/>
                <a:cs typeface="Calibri"/>
              </a:rPr>
              <a:t>Acquisition</a:t>
            </a:r>
            <a:r>
              <a:rPr dirty="0" sz="4600" spc="17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4600" spc="-350">
                <a:solidFill>
                  <a:srgbClr val="181818"/>
                </a:solidFill>
                <a:latin typeface="Calibri"/>
                <a:cs typeface="Calibri"/>
              </a:rPr>
              <a:t>&amp;</a:t>
            </a:r>
            <a:r>
              <a:rPr dirty="0" sz="4600" spc="-16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4600" spc="225">
                <a:latin typeface="Calibri"/>
                <a:cs typeface="Calibri"/>
              </a:rPr>
              <a:t>Normalization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14"/>
              </a:spcBef>
            </a:pPr>
            <a:r>
              <a:rPr dirty="0" spc="170">
                <a:solidFill>
                  <a:srgbClr val="2D2D2D"/>
                </a:solidFill>
              </a:rPr>
              <a:t>Automated</a:t>
            </a:r>
            <a:r>
              <a:rPr dirty="0" spc="-65">
                <a:solidFill>
                  <a:srgbClr val="2D2D2D"/>
                </a:solidFill>
              </a:rPr>
              <a:t> </a:t>
            </a:r>
            <a:r>
              <a:rPr dirty="0" spc="145">
                <a:solidFill>
                  <a:srgbClr val="363636"/>
                </a:solidFill>
              </a:rPr>
              <a:t>Multi-</a:t>
            </a:r>
            <a:r>
              <a:rPr dirty="0" spc="165">
                <a:solidFill>
                  <a:srgbClr val="363636"/>
                </a:solidFill>
              </a:rPr>
              <a:t>Path</a:t>
            </a:r>
            <a:r>
              <a:rPr dirty="0" spc="-170">
                <a:solidFill>
                  <a:srgbClr val="363636"/>
                </a:solidFill>
              </a:rPr>
              <a:t> </a:t>
            </a:r>
            <a:r>
              <a:rPr dirty="0" spc="195"/>
              <a:t>Loader:</a:t>
            </a:r>
            <a:r>
              <a:rPr dirty="0" spc="65"/>
              <a:t> </a:t>
            </a:r>
            <a:r>
              <a:rPr dirty="0" spc="150">
                <a:solidFill>
                  <a:srgbClr val="2D2D2D"/>
                </a:solidFill>
              </a:rPr>
              <a:t>Searches</a:t>
            </a:r>
            <a:r>
              <a:rPr dirty="0" spc="75">
                <a:solidFill>
                  <a:srgbClr val="2D2D2D"/>
                </a:solidFill>
              </a:rPr>
              <a:t> </a:t>
            </a:r>
            <a:r>
              <a:rPr dirty="0" spc="140">
                <a:solidFill>
                  <a:srgbClr val="2F2F2F"/>
                </a:solidFill>
              </a:rPr>
              <a:t>local</a:t>
            </a:r>
            <a:r>
              <a:rPr dirty="0" spc="-140">
                <a:solidFill>
                  <a:srgbClr val="2F2F2F"/>
                </a:solidFill>
              </a:rPr>
              <a:t> </a:t>
            </a:r>
            <a:r>
              <a:rPr dirty="0" spc="110"/>
              <a:t>repository</a:t>
            </a:r>
            <a:r>
              <a:rPr dirty="0" spc="35"/>
              <a:t> </a:t>
            </a:r>
            <a:r>
              <a:rPr dirty="0" spc="110">
                <a:solidFill>
                  <a:srgbClr val="3A3A3A"/>
                </a:solidFill>
              </a:rPr>
              <a:t>and</a:t>
            </a:r>
          </a:p>
          <a:p>
            <a:pPr marL="24765">
              <a:lnSpc>
                <a:spcPct val="100000"/>
              </a:lnSpc>
              <a:spcBef>
                <a:spcPts val="85"/>
              </a:spcBef>
            </a:pPr>
            <a:r>
              <a:rPr dirty="0" spc="70">
                <a:solidFill>
                  <a:srgbClr val="363636"/>
                </a:solidFill>
                <a:latin typeface="Arial MT"/>
                <a:cs typeface="Arial MT"/>
              </a:rPr>
              <a:t>mounted</a:t>
            </a:r>
            <a:r>
              <a:rPr dirty="0" spc="-10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pc="90">
                <a:solidFill>
                  <a:srgbClr val="383838"/>
                </a:solidFill>
                <a:latin typeface="Arial MT"/>
                <a:cs typeface="Arial MT"/>
              </a:rPr>
              <a:t>Google</a:t>
            </a:r>
            <a:r>
              <a:rPr dirty="0" spc="-7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pc="-55">
                <a:solidFill>
                  <a:srgbClr val="343434"/>
                </a:solidFill>
                <a:latin typeface="Arial MT"/>
                <a:cs typeface="Arial MT"/>
              </a:rPr>
              <a:t>Drive</a:t>
            </a:r>
            <a:r>
              <a:rPr dirty="0" spc="-8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pc="-10">
                <a:solidFill>
                  <a:srgbClr val="333333"/>
                </a:solidFill>
                <a:latin typeface="Arial MT"/>
                <a:cs typeface="Arial MT"/>
              </a:rPr>
              <a:t>dynamically.</a:t>
            </a:r>
          </a:p>
          <a:p>
            <a:pPr marL="26034" marR="353695" indent="-4445">
              <a:lnSpc>
                <a:spcPts val="2910"/>
              </a:lnSpc>
              <a:spcBef>
                <a:spcPts val="1975"/>
              </a:spcBef>
            </a:pPr>
            <a:r>
              <a:rPr dirty="0" sz="2450">
                <a:solidFill>
                  <a:srgbClr val="343434"/>
                </a:solidFill>
                <a:latin typeface="Arial MT"/>
                <a:cs typeface="Arial MT"/>
              </a:rPr>
              <a:t>Single-Channel</a:t>
            </a:r>
            <a:r>
              <a:rPr dirty="0" sz="2450" spc="-20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83838"/>
                </a:solidFill>
                <a:latin typeface="Arial MT"/>
                <a:cs typeface="Arial MT"/>
              </a:rPr>
              <a:t>Conversion:</a:t>
            </a:r>
            <a:r>
              <a:rPr dirty="0" sz="2450" spc="7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343434"/>
                </a:solidFill>
                <a:latin typeface="Arial MT"/>
                <a:cs typeface="Arial MT"/>
              </a:rPr>
              <a:t>Loads</a:t>
            </a:r>
            <a:r>
              <a:rPr dirty="0" sz="2450" spc="-13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 spc="-90">
                <a:solidFill>
                  <a:srgbClr val="313131"/>
                </a:solidFill>
                <a:latin typeface="Arial MT"/>
                <a:cs typeface="Arial MT"/>
              </a:rPr>
              <a:t>scan</a:t>
            </a:r>
            <a:r>
              <a:rPr dirty="0" sz="2450" spc="-24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62626"/>
                </a:solidFill>
                <a:latin typeface="Arial MT"/>
                <a:cs typeface="Arial MT"/>
              </a:rPr>
              <a:t>directly</a:t>
            </a:r>
            <a:r>
              <a:rPr dirty="0" sz="2450" spc="-13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63636"/>
                </a:solidFill>
                <a:latin typeface="Arial MT"/>
                <a:cs typeface="Arial MT"/>
              </a:rPr>
              <a:t>into</a:t>
            </a:r>
            <a:r>
              <a:rPr dirty="0" sz="2450" spc="-13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450" spc="-350">
                <a:solidFill>
                  <a:srgbClr val="313131"/>
                </a:solidFill>
                <a:latin typeface="Arial MT"/>
                <a:cs typeface="Arial MT"/>
              </a:rPr>
              <a:t>8—</a:t>
            </a:r>
            <a:r>
              <a:rPr dirty="0" sz="2450" spc="-25">
                <a:solidFill>
                  <a:srgbClr val="313131"/>
                </a:solidFill>
                <a:latin typeface="Arial MT"/>
                <a:cs typeface="Arial MT"/>
              </a:rPr>
              <a:t>bit </a:t>
            </a:r>
            <a:r>
              <a:rPr dirty="0" sz="2450" spc="-70">
                <a:solidFill>
                  <a:srgbClr val="2A2A2A"/>
                </a:solidFill>
                <a:latin typeface="Arial MT"/>
                <a:cs typeface="Arial MT"/>
              </a:rPr>
              <a:t>grayscale</a:t>
            </a:r>
            <a:r>
              <a:rPr dirty="0" sz="2450" spc="-6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333333"/>
                </a:solidFill>
                <a:latin typeface="Arial MT"/>
                <a:cs typeface="Arial MT"/>
              </a:rPr>
              <a:t>space</a:t>
            </a:r>
            <a:r>
              <a:rPr dirty="0" sz="2450" spc="-17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450" spc="-100">
                <a:solidFill>
                  <a:srgbClr val="313131"/>
                </a:solidFill>
                <a:latin typeface="Arial MT"/>
                <a:cs typeface="Arial MT"/>
              </a:rPr>
              <a:t>(”cv2.IMREAD_GRAYSCALE”).</a:t>
            </a:r>
            <a:endParaRPr sz="2450">
              <a:latin typeface="Arial MT"/>
              <a:cs typeface="Arial MT"/>
            </a:endParaRPr>
          </a:p>
          <a:p>
            <a:pPr marL="24130" marR="537845" indent="-1905">
              <a:lnSpc>
                <a:spcPts val="2910"/>
              </a:lnSpc>
              <a:spcBef>
                <a:spcPts val="1850"/>
              </a:spcBef>
            </a:pPr>
            <a:r>
              <a:rPr dirty="0" sz="2450" spc="-35">
                <a:solidFill>
                  <a:srgbClr val="343434"/>
                </a:solidFill>
                <a:latin typeface="Arial MT"/>
                <a:cs typeface="Arial MT"/>
              </a:rPr>
              <a:t>Spatial</a:t>
            </a:r>
            <a:r>
              <a:rPr dirty="0" sz="2450" spc="-254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363636"/>
                </a:solidFill>
                <a:latin typeface="Arial MT"/>
                <a:cs typeface="Arial MT"/>
              </a:rPr>
              <a:t>Resampling:</a:t>
            </a:r>
            <a:r>
              <a:rPr dirty="0" sz="2450" spc="2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450" spc="-85">
                <a:solidFill>
                  <a:srgbClr val="2F2F2F"/>
                </a:solidFill>
                <a:latin typeface="Arial MT"/>
                <a:cs typeface="Arial MT"/>
              </a:rPr>
              <a:t>Standardizes</a:t>
            </a:r>
            <a:r>
              <a:rPr dirty="0" sz="2450" spc="-2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232323"/>
                </a:solidFill>
                <a:latin typeface="Arial MT"/>
                <a:cs typeface="Arial MT"/>
              </a:rPr>
              <a:t>input</a:t>
            </a:r>
            <a:r>
              <a:rPr dirty="0" sz="2450" spc="-11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dirty="0" sz="2450" spc="9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450" spc="-30">
                <a:solidFill>
                  <a:srgbClr val="313131"/>
                </a:solidFill>
                <a:latin typeface="Arial MT"/>
                <a:cs typeface="Arial MT"/>
              </a:rPr>
              <a:t>256x256</a:t>
            </a:r>
            <a:r>
              <a:rPr dirty="0" sz="2450" spc="-13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Arial MT"/>
                <a:cs typeface="Arial MT"/>
              </a:rPr>
              <a:t>matrix </a:t>
            </a:r>
            <a:r>
              <a:rPr dirty="0" sz="2450" spc="-10">
                <a:solidFill>
                  <a:srgbClr val="2F2F2F"/>
                </a:solidFill>
                <a:latin typeface="Arial MT"/>
                <a:cs typeface="Arial MT"/>
              </a:rPr>
              <a:t>resolution.</a:t>
            </a:r>
            <a:endParaRPr sz="2450">
              <a:latin typeface="Arial MT"/>
              <a:cs typeface="Arial MT"/>
            </a:endParaRPr>
          </a:p>
          <a:p>
            <a:pPr marL="26034" marR="373380" indent="-13970">
              <a:lnSpc>
                <a:spcPts val="2910"/>
              </a:lnSpc>
              <a:spcBef>
                <a:spcPts val="1845"/>
              </a:spcBef>
            </a:pPr>
            <a:r>
              <a:rPr dirty="0" sz="2450">
                <a:solidFill>
                  <a:srgbClr val="3A3A3A"/>
                </a:solidFill>
                <a:latin typeface="Arial MT"/>
                <a:cs typeface="Arial MT"/>
              </a:rPr>
              <a:t>Deterministic</a:t>
            </a:r>
            <a:r>
              <a:rPr dirty="0" sz="2450" spc="5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3B3B3B"/>
                </a:solidFill>
                <a:latin typeface="Arial MT"/>
                <a:cs typeface="Arial MT"/>
              </a:rPr>
              <a:t>Pipeline:</a:t>
            </a:r>
            <a:r>
              <a:rPr dirty="0" sz="2450" spc="-7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dirty="0" sz="2450" spc="-105">
                <a:solidFill>
                  <a:srgbClr val="2A2A2A"/>
                </a:solidFill>
                <a:latin typeface="Arial MT"/>
                <a:cs typeface="Arial MT"/>
              </a:rPr>
              <a:t>Eliminates</a:t>
            </a:r>
            <a:r>
              <a:rPr dirty="0" sz="245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450" spc="-105">
                <a:solidFill>
                  <a:srgbClr val="313131"/>
                </a:solidFill>
                <a:latin typeface="Arial MT"/>
                <a:cs typeface="Arial MT"/>
              </a:rPr>
              <a:t>machine</a:t>
            </a:r>
            <a:r>
              <a:rPr dirty="0" sz="2450" spc="-2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450" spc="-105">
                <a:solidFill>
                  <a:srgbClr val="313131"/>
                </a:solidFill>
                <a:latin typeface="Arial MT"/>
                <a:cs typeface="Arial MT"/>
              </a:rPr>
              <a:t>learning</a:t>
            </a:r>
            <a:r>
              <a:rPr dirty="0" sz="2450" spc="4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Arial MT"/>
                <a:cs typeface="Arial MT"/>
              </a:rPr>
              <a:t>training dependencies.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20"/>
              </a:spcBef>
            </a:pPr>
            <a:endParaRPr sz="2450">
              <a:latin typeface="Arial MT"/>
              <a:cs typeface="Arial MT"/>
            </a:endParaRPr>
          </a:p>
          <a:p>
            <a:pPr marL="398780">
              <a:lnSpc>
                <a:spcPct val="100000"/>
              </a:lnSpc>
            </a:pPr>
            <a:r>
              <a:rPr dirty="0" spc="145">
                <a:solidFill>
                  <a:srgbClr val="0772AA"/>
                </a:solidFill>
                <a:latin typeface="Arial MT"/>
                <a:cs typeface="Arial MT"/>
              </a:rPr>
              <a:t>Output</a:t>
            </a:r>
            <a:r>
              <a:rPr dirty="0" spc="-195">
                <a:solidFill>
                  <a:srgbClr val="0772AA"/>
                </a:solidFill>
                <a:latin typeface="Arial MT"/>
                <a:cs typeface="Arial MT"/>
              </a:rPr>
              <a:t> </a:t>
            </a:r>
            <a:r>
              <a:rPr dirty="0" spc="75">
                <a:solidFill>
                  <a:srgbClr val="016B9A"/>
                </a:solidFill>
                <a:latin typeface="Arial MT"/>
                <a:cs typeface="Arial MT"/>
              </a:rPr>
              <a:t>Dimension:</a:t>
            </a:r>
            <a:r>
              <a:rPr dirty="0" spc="85">
                <a:solidFill>
                  <a:srgbClr val="016B9A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2B97DD"/>
                </a:solidFill>
                <a:latin typeface="Arial MT"/>
                <a:cs typeface="Arial MT"/>
              </a:rPr>
              <a:t>256</a:t>
            </a:r>
            <a:r>
              <a:rPr dirty="0" spc="70">
                <a:solidFill>
                  <a:srgbClr val="2B97DD"/>
                </a:solidFill>
                <a:latin typeface="Arial MT"/>
                <a:cs typeface="Arial MT"/>
              </a:rPr>
              <a:t> </a:t>
            </a:r>
            <a:r>
              <a:rPr dirty="0" spc="-170">
                <a:solidFill>
                  <a:srgbClr val="006BAA"/>
                </a:solidFill>
                <a:latin typeface="Arial MT"/>
                <a:cs typeface="Arial MT"/>
              </a:rPr>
              <a:t>x</a:t>
            </a:r>
            <a:r>
              <a:rPr dirty="0" spc="10">
                <a:solidFill>
                  <a:srgbClr val="006BAA"/>
                </a:solidFill>
                <a:latin typeface="Arial MT"/>
                <a:cs typeface="Arial MT"/>
              </a:rPr>
              <a:t> </a:t>
            </a:r>
            <a:r>
              <a:rPr dirty="0" spc="70">
                <a:solidFill>
                  <a:srgbClr val="0569A3"/>
                </a:solidFill>
                <a:latin typeface="Arial MT"/>
                <a:cs typeface="Arial MT"/>
              </a:rPr>
              <a:t>25ó</a:t>
            </a:r>
            <a:r>
              <a:rPr dirty="0" spc="-285">
                <a:solidFill>
                  <a:srgbClr val="0569A3"/>
                </a:solidFill>
                <a:latin typeface="Arial MT"/>
                <a:cs typeface="Arial MT"/>
              </a:rPr>
              <a:t> </a:t>
            </a:r>
            <a:r>
              <a:rPr dirty="0" spc="55">
                <a:solidFill>
                  <a:srgbClr val="01679E"/>
                </a:solidFill>
                <a:latin typeface="Arial MT"/>
                <a:cs typeface="Arial MT"/>
              </a:rPr>
              <a:t>Pixel</a:t>
            </a:r>
            <a:r>
              <a:rPr dirty="0" spc="-254">
                <a:solidFill>
                  <a:srgbClr val="01679E"/>
                </a:solidFill>
                <a:latin typeface="Arial MT"/>
                <a:cs typeface="Arial MT"/>
              </a:rPr>
              <a:t> </a:t>
            </a:r>
            <a:r>
              <a:rPr dirty="0" spc="70">
                <a:solidFill>
                  <a:srgbClr val="0075BA"/>
                </a:solidFill>
                <a:latin typeface="Arial MT"/>
                <a:cs typeface="Arial MT"/>
              </a:rPr>
              <a:t>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093" y="688358"/>
            <a:ext cx="11069320" cy="11468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409"/>
              </a:spcBef>
            </a:pPr>
            <a:r>
              <a:rPr dirty="0" sz="1900" spc="-114">
                <a:solidFill>
                  <a:srgbClr val="1574AA"/>
                </a:solidFill>
                <a:latin typeface="Arial MT"/>
                <a:cs typeface="Arial MT"/>
              </a:rPr>
              <a:t>STEP</a:t>
            </a:r>
            <a:r>
              <a:rPr dirty="0" sz="1900" spc="55">
                <a:solidFill>
                  <a:srgbClr val="1574AA"/>
                </a:solidFill>
                <a:latin typeface="Arial MT"/>
                <a:cs typeface="Arial MT"/>
              </a:rPr>
              <a:t> </a:t>
            </a:r>
            <a:r>
              <a:rPr dirty="0" sz="1900" spc="90">
                <a:solidFill>
                  <a:srgbClr val="246BBA"/>
                </a:solidFill>
                <a:latin typeface="Arial MT"/>
                <a:cs typeface="Arial MT"/>
              </a:rPr>
              <a:t>02</a:t>
            </a:r>
            <a:r>
              <a:rPr dirty="0" sz="1900" spc="-114">
                <a:solidFill>
                  <a:srgbClr val="246BBA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0079C1"/>
                </a:solidFill>
                <a:latin typeface="Arial MT"/>
                <a:cs typeface="Arial MT"/>
              </a:rPr>
              <a:t>PIPELINE</a:t>
            </a: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4600" spc="185">
                <a:solidFill>
                  <a:srgbClr val="111111"/>
                </a:solidFill>
                <a:latin typeface="Arial MT"/>
                <a:cs typeface="Arial MT"/>
              </a:rPr>
              <a:t>lntensitg</a:t>
            </a:r>
            <a:r>
              <a:rPr dirty="0" sz="46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600" spc="185">
                <a:solidFill>
                  <a:srgbClr val="111111"/>
                </a:solidFill>
                <a:latin typeface="Arial MT"/>
                <a:cs typeface="Arial MT"/>
              </a:rPr>
              <a:t>Distribution</a:t>
            </a:r>
            <a:r>
              <a:rPr dirty="0" sz="4600" spc="16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600" spc="-400">
                <a:solidFill>
                  <a:srgbClr val="181818"/>
                </a:solidFill>
                <a:latin typeface="Arial MT"/>
                <a:cs typeface="Arial MT"/>
              </a:rPr>
              <a:t>&amp;</a:t>
            </a:r>
            <a:r>
              <a:rPr dirty="0" sz="4600" spc="-15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4600" spc="100">
                <a:solidFill>
                  <a:srgbClr val="111111"/>
                </a:solidFill>
                <a:latin typeface="Arial MT"/>
                <a:cs typeface="Arial MT"/>
              </a:rPr>
              <a:t>Contrast</a:t>
            </a:r>
            <a:r>
              <a:rPr dirty="0" sz="4600" spc="229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4600" spc="155">
                <a:solidFill>
                  <a:srgbClr val="131313"/>
                </a:solidFill>
                <a:latin typeface="Arial MT"/>
                <a:cs typeface="Arial MT"/>
              </a:rPr>
              <a:t>Metrics</a:t>
            </a:r>
            <a:endParaRPr sz="4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2195" y="2640360"/>
            <a:ext cx="2776855" cy="1890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ts val="2135"/>
              </a:lnSpc>
              <a:spcBef>
                <a:spcPts val="100"/>
              </a:spcBef>
            </a:pPr>
            <a:r>
              <a:rPr dirty="0" sz="1800" spc="-114">
                <a:solidFill>
                  <a:srgbClr val="696969"/>
                </a:solidFill>
                <a:latin typeface="Arial MT"/>
                <a:cs typeface="Arial MT"/>
              </a:rPr>
              <a:t>MEAN</a:t>
            </a:r>
            <a:r>
              <a:rPr dirty="0" sz="1800" spc="-13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150">
                <a:solidFill>
                  <a:srgbClr val="696969"/>
                </a:solidFill>
                <a:latin typeface="Arial MT"/>
                <a:cs typeface="Arial MT"/>
              </a:rPr>
              <a:t>INTENSITY</a:t>
            </a:r>
            <a:r>
              <a:rPr dirty="0" sz="1800" spc="8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6B7C95"/>
                </a:solidFill>
                <a:latin typeface="Arial MT"/>
                <a:cs typeface="Arial MT"/>
              </a:rPr>
              <a:t>(p)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9395"/>
              </a:lnSpc>
            </a:pPr>
            <a:r>
              <a:rPr dirty="0" sz="7850" spc="-615">
                <a:solidFill>
                  <a:srgbClr val="0582C3"/>
                </a:solidFill>
                <a:latin typeface="Arial MT"/>
                <a:cs typeface="Arial MT"/>
              </a:rPr>
              <a:t>119.79</a:t>
            </a:r>
            <a:endParaRPr sz="7850">
              <a:latin typeface="Arial MT"/>
              <a:cs typeface="Arial MT"/>
            </a:endParaRPr>
          </a:p>
          <a:p>
            <a:pPr marL="113664">
              <a:lnSpc>
                <a:spcPct val="100000"/>
              </a:lnSpc>
              <a:spcBef>
                <a:spcPts val="860"/>
              </a:spcBef>
            </a:pPr>
            <a:r>
              <a:rPr dirty="0" sz="1900" spc="-80">
                <a:solidFill>
                  <a:srgbClr val="646464"/>
                </a:solidFill>
                <a:latin typeface="Arial MT"/>
                <a:cs typeface="Arial MT"/>
              </a:rPr>
              <a:t>Average</a:t>
            </a:r>
            <a:r>
              <a:rPr dirty="0" sz="190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900" spc="-30">
                <a:solidFill>
                  <a:srgbClr val="707070"/>
                </a:solidFill>
                <a:latin typeface="Arial MT"/>
                <a:cs typeface="Arial MT"/>
              </a:rPr>
              <a:t>plobal</a:t>
            </a:r>
            <a:r>
              <a:rPr dirty="0" sz="1900" spc="-11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dirty="0" sz="1900" spc="-35">
                <a:solidFill>
                  <a:srgbClr val="6D6D6D"/>
                </a:solidFill>
                <a:latin typeface="Arial MT"/>
                <a:cs typeface="Arial MT"/>
              </a:rPr>
              <a:t>brightness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2892" y="6393518"/>
            <a:ext cx="59080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383838"/>
                </a:solidFill>
                <a:latin typeface="Arial MT"/>
                <a:cs typeface="Arial MT"/>
              </a:rPr>
              <a:t>Bi-</a:t>
            </a:r>
            <a:r>
              <a:rPr dirty="0" sz="1900" spc="31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900" spc="175">
                <a:solidFill>
                  <a:srgbClr val="2F2F2F"/>
                </a:solidFill>
                <a:latin typeface="Arial MT"/>
                <a:cs typeface="Arial MT"/>
              </a:rPr>
              <a:t>Nodal</a:t>
            </a:r>
            <a:r>
              <a:rPr dirty="0" sz="1900" spc="-16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1900" spc="125">
                <a:solidFill>
                  <a:srgbClr val="313131"/>
                </a:solidFill>
                <a:latin typeface="Arial MT"/>
                <a:cs typeface="Arial MT"/>
              </a:rPr>
              <a:t>Intensity</a:t>
            </a:r>
            <a:r>
              <a:rPr dirty="0" sz="1900" spc="-12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900" spc="85">
                <a:solidFill>
                  <a:srgbClr val="383838"/>
                </a:solidFill>
                <a:latin typeface="Arial MT"/>
                <a:cs typeface="Arial MT"/>
              </a:rPr>
              <a:t>Profile</a:t>
            </a:r>
            <a:r>
              <a:rPr dirty="0" sz="1900" spc="-2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1900" spc="110">
                <a:solidFill>
                  <a:srgbClr val="363636"/>
                </a:solidFill>
                <a:latin typeface="Arial MT"/>
                <a:cs typeface="Arial MT"/>
              </a:rPr>
              <a:t>(Background</a:t>
            </a:r>
            <a:r>
              <a:rPr dirty="0" sz="1900" spc="7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1900" spc="65">
                <a:solidFill>
                  <a:srgbClr val="343434"/>
                </a:solidFill>
                <a:latin typeface="Arial MT"/>
                <a:cs typeface="Arial MT"/>
              </a:rPr>
              <a:t>vs</a:t>
            </a:r>
            <a:r>
              <a:rPr dirty="0" sz="1900" spc="-19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343434"/>
                </a:solidFill>
                <a:latin typeface="Arial MT"/>
                <a:cs typeface="Arial MT"/>
              </a:rPr>
              <a:t>Tissue)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1364" y="9284137"/>
            <a:ext cx="159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96969"/>
                </a:solidFill>
                <a:latin typeface="Arial MT"/>
                <a:cs typeface="Arial MT"/>
              </a:rPr>
              <a:t>0</a:t>
            </a:r>
            <a:r>
              <a:rPr dirty="0" sz="1800" spc="-12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800" spc="-40">
                <a:solidFill>
                  <a:srgbClr val="6B6B6B"/>
                </a:solidFill>
                <a:latin typeface="Arial MT"/>
                <a:cs typeface="Arial MT"/>
              </a:rPr>
              <a:t>(Dark</a:t>
            </a:r>
            <a:r>
              <a:rPr dirty="0" sz="1800" spc="1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800" spc="-105">
                <a:solidFill>
                  <a:srgbClr val="6B6B6B"/>
                </a:solidFill>
                <a:latin typeface="Arial MT"/>
                <a:cs typeface="Arial MT"/>
              </a:rPr>
              <a:t>Air</a:t>
            </a:r>
            <a:r>
              <a:rPr dirty="0" sz="1800" spc="-8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800" spc="-40">
                <a:solidFill>
                  <a:srgbClr val="6B6B6B"/>
                </a:solidFill>
                <a:latin typeface="Arial MT"/>
                <a:cs typeface="Arial MT"/>
              </a:rPr>
              <a:t>Void)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5033" y="2624125"/>
            <a:ext cx="2893695" cy="189992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229"/>
              </a:spcBef>
            </a:pPr>
            <a:r>
              <a:rPr dirty="0" sz="1800" spc="-180">
                <a:solidFill>
                  <a:srgbClr val="67757E"/>
                </a:solidFill>
                <a:latin typeface="Arial MT"/>
                <a:cs typeface="Arial MT"/>
              </a:rPr>
              <a:t>STD</a:t>
            </a:r>
            <a:r>
              <a:rPr dirty="0" sz="1800" spc="-114">
                <a:solidFill>
                  <a:srgbClr val="67757E"/>
                </a:solidFill>
                <a:latin typeface="Arial MT"/>
                <a:cs typeface="Arial MT"/>
              </a:rPr>
              <a:t> </a:t>
            </a:r>
            <a:r>
              <a:rPr dirty="0" sz="1800" spc="-95">
                <a:solidFill>
                  <a:srgbClr val="5E7493"/>
                </a:solidFill>
                <a:latin typeface="Arial MT"/>
                <a:cs typeface="Arial MT"/>
              </a:rPr>
              <a:t>DEVIATION</a:t>
            </a:r>
            <a:r>
              <a:rPr dirty="0" sz="1800" spc="-35">
                <a:solidFill>
                  <a:srgbClr val="5E7493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777E93"/>
                </a:solidFill>
                <a:latin typeface="Arial MT"/>
                <a:cs typeface="Arial MT"/>
              </a:rPr>
              <a:t>(o)</a:t>
            </a:r>
            <a:endParaRPr sz="18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  <a:spcBef>
                <a:spcPts val="515"/>
              </a:spcBef>
            </a:pPr>
            <a:r>
              <a:rPr dirty="0" sz="7350" spc="-10">
                <a:solidFill>
                  <a:srgbClr val="0CBA82"/>
                </a:solidFill>
                <a:latin typeface="Arial MT"/>
                <a:cs typeface="Arial MT"/>
              </a:rPr>
              <a:t>49.75</a:t>
            </a:r>
            <a:endParaRPr sz="7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650" spc="60">
                <a:solidFill>
                  <a:srgbClr val="9091A3"/>
                </a:solidFill>
                <a:latin typeface="Arial MT"/>
                <a:cs typeface="Arial MT"/>
              </a:rPr>
              <a:t>I</a:t>
            </a:r>
            <a:r>
              <a:rPr dirty="0" sz="1650" spc="60">
                <a:solidFill>
                  <a:srgbClr val="696969"/>
                </a:solidFill>
                <a:latin typeface="Arial MT"/>
                <a:cs typeface="Arial MT"/>
              </a:rPr>
              <a:t>nte</a:t>
            </a:r>
            <a:r>
              <a:rPr dirty="0" sz="1650" spc="-26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650" spc="55">
                <a:solidFill>
                  <a:srgbClr val="BFBFBF"/>
                </a:solidFill>
                <a:latin typeface="Arial MT"/>
                <a:cs typeface="Arial MT"/>
              </a:rPr>
              <a:t>ns</a:t>
            </a:r>
            <a:r>
              <a:rPr dirty="0" sz="1650" spc="55">
                <a:solidFill>
                  <a:srgbClr val="646464"/>
                </a:solidFill>
                <a:latin typeface="Arial MT"/>
                <a:cs typeface="Arial MT"/>
              </a:rPr>
              <a:t>ity</a:t>
            </a:r>
            <a:r>
              <a:rPr dirty="0" sz="1650" spc="6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96969"/>
                </a:solidFill>
                <a:latin typeface="Arial MT"/>
                <a:cs typeface="Arial MT"/>
              </a:rPr>
              <a:t>variance</a:t>
            </a:r>
            <a:r>
              <a:rPr dirty="0" sz="1650" spc="22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76767"/>
                </a:solidFill>
                <a:latin typeface="Arial MT"/>
                <a:cs typeface="Arial MT"/>
              </a:rPr>
              <a:t>&amp;</a:t>
            </a:r>
            <a:r>
              <a:rPr dirty="0" sz="1650" spc="-1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650" spc="70">
                <a:solidFill>
                  <a:srgbClr val="646464"/>
                </a:solidFill>
                <a:latin typeface="Arial MT"/>
                <a:cs typeface="Arial MT"/>
              </a:rPr>
              <a:t>contrast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5868" y="9259923"/>
            <a:ext cx="22726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707070"/>
                </a:solidFill>
                <a:latin typeface="Cambria"/>
                <a:cs typeface="Cambria"/>
              </a:rPr>
              <a:t>Ootlmal</a:t>
            </a:r>
            <a:r>
              <a:rPr dirty="0" sz="1900" spc="-95">
                <a:solidFill>
                  <a:srgbClr val="707070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707070"/>
                </a:solidFill>
                <a:latin typeface="Cambria"/>
                <a:cs typeface="Cambria"/>
              </a:rPr>
              <a:t>C</a:t>
            </a:r>
            <a:r>
              <a:rPr dirty="0" sz="1900" spc="-105">
                <a:solidFill>
                  <a:srgbClr val="707070"/>
                </a:solidFill>
                <a:latin typeface="Cambria"/>
                <a:cs typeface="Cambria"/>
              </a:rPr>
              <a:t> </a:t>
            </a:r>
            <a:r>
              <a:rPr dirty="0" sz="1900">
                <a:solidFill>
                  <a:srgbClr val="646464"/>
                </a:solidFill>
                <a:latin typeface="Cambria"/>
                <a:cs typeface="Cambria"/>
              </a:rPr>
              <a:t>utoff</a:t>
            </a:r>
            <a:r>
              <a:rPr dirty="0" sz="1900" spc="35">
                <a:solidFill>
                  <a:srgbClr val="646464"/>
                </a:solidFill>
                <a:latin typeface="Cambria"/>
                <a:cs typeface="Cambria"/>
              </a:rPr>
              <a:t> </a:t>
            </a:r>
            <a:r>
              <a:rPr dirty="0" sz="1900" spc="-175">
                <a:solidFill>
                  <a:srgbClr val="BFBFBF"/>
                </a:solidFill>
                <a:latin typeface="Cambria"/>
                <a:cs typeface="Cambria"/>
              </a:rPr>
              <a:t>T*</a:t>
            </a:r>
            <a:r>
              <a:rPr dirty="0" sz="1900" spc="10">
                <a:solidFill>
                  <a:srgbClr val="BFBFBF"/>
                </a:solidFill>
                <a:latin typeface="Cambria"/>
                <a:cs typeface="Cambria"/>
              </a:rPr>
              <a:t> </a:t>
            </a:r>
            <a:r>
              <a:rPr dirty="0" sz="1900" spc="-210">
                <a:solidFill>
                  <a:srgbClr val="727272"/>
                </a:solidFill>
                <a:latin typeface="Cambria"/>
                <a:cs typeface="Cambria"/>
              </a:rPr>
              <a:t>=</a:t>
            </a:r>
            <a:r>
              <a:rPr dirty="0" sz="1900" spc="-70">
                <a:solidFill>
                  <a:srgbClr val="727272"/>
                </a:solidFill>
                <a:latin typeface="Cambria"/>
                <a:cs typeface="Cambria"/>
              </a:rPr>
              <a:t> </a:t>
            </a:r>
            <a:r>
              <a:rPr dirty="0" sz="1900" spc="-25">
                <a:solidFill>
                  <a:srgbClr val="606060"/>
                </a:solidFill>
                <a:latin typeface="Cambria"/>
                <a:cs typeface="Cambria"/>
              </a:rPr>
              <a:t>95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84837" y="2626054"/>
            <a:ext cx="3519170" cy="1898014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215"/>
              </a:spcBef>
            </a:pPr>
            <a:r>
              <a:rPr dirty="0" sz="1800" spc="-55">
                <a:solidFill>
                  <a:srgbClr val="647089"/>
                </a:solidFill>
                <a:latin typeface="Arial MT"/>
                <a:cs typeface="Arial MT"/>
              </a:rPr>
              <a:t>DYNAMIC </a:t>
            </a:r>
            <a:r>
              <a:rPr dirty="0" sz="1800" spc="-10">
                <a:solidFill>
                  <a:srgbClr val="646464"/>
                </a:solidFill>
                <a:latin typeface="Arial MT"/>
                <a:cs typeface="Arial MT"/>
              </a:rPr>
              <a:t>RANGE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7350" spc="-254">
                <a:solidFill>
                  <a:srgbClr val="181818"/>
                </a:solidFill>
                <a:latin typeface="Arial MT"/>
                <a:cs typeface="Arial MT"/>
              </a:rPr>
              <a:t>[12,</a:t>
            </a:r>
            <a:r>
              <a:rPr dirty="0" sz="7350" spc="-4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7350" spc="-20">
                <a:solidFill>
                  <a:srgbClr val="181818"/>
                </a:solidFill>
                <a:latin typeface="Arial MT"/>
                <a:cs typeface="Arial MT"/>
              </a:rPr>
              <a:t>255]</a:t>
            </a:r>
            <a:endParaRPr sz="7350">
              <a:latin typeface="Arial MT"/>
              <a:cs typeface="Arial MT"/>
            </a:endParaRPr>
          </a:p>
          <a:p>
            <a:pPr marL="29845">
              <a:lnSpc>
                <a:spcPct val="100000"/>
              </a:lnSpc>
              <a:spcBef>
                <a:spcPts val="1210"/>
              </a:spcBef>
            </a:pPr>
            <a:r>
              <a:rPr dirty="0" sz="1650" spc="60">
                <a:solidFill>
                  <a:srgbClr val="696969"/>
                </a:solidFill>
                <a:latin typeface="Arial MT"/>
                <a:cs typeface="Arial MT"/>
              </a:rPr>
              <a:t>*ull</a:t>
            </a:r>
            <a:r>
              <a:rPr dirty="0" sz="1650" spc="-10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1650" spc="-100">
                <a:solidFill>
                  <a:srgbClr val="666666"/>
                </a:solidFill>
                <a:latin typeface="Arial MT"/>
                <a:cs typeface="Arial MT"/>
              </a:rPr>
              <a:t>8—</a:t>
            </a:r>
            <a:r>
              <a:rPr dirty="0" sz="1650" spc="-20">
                <a:solidFill>
                  <a:srgbClr val="666666"/>
                </a:solidFill>
                <a:latin typeface="Arial MT"/>
                <a:cs typeface="Arial MT"/>
              </a:rPr>
              <a:t>bit</a:t>
            </a:r>
            <a:r>
              <a:rPr dirty="0" sz="1650" spc="4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666666"/>
                </a:solidFill>
                <a:latin typeface="Arial MT"/>
                <a:cs typeface="Arial MT"/>
              </a:rPr>
              <a:t>scale</a:t>
            </a:r>
            <a:r>
              <a:rPr dirty="0" sz="1650" spc="4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646464"/>
                </a:solidFill>
                <a:latin typeface="Arial MT"/>
                <a:cs typeface="Arial MT"/>
              </a:rPr>
              <a:t>utilization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67490" y="9267776"/>
            <a:ext cx="243903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85">
                <a:solidFill>
                  <a:srgbClr val="646464"/>
                </a:solidFill>
                <a:latin typeface="Arial MT"/>
                <a:cs typeface="Arial MT"/>
              </a:rPr>
              <a:t>255</a:t>
            </a:r>
            <a:r>
              <a:rPr dirty="0" sz="1900" spc="-7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676767"/>
                </a:solidFill>
                <a:latin typeface="Arial MT"/>
                <a:cs typeface="Arial MT"/>
              </a:rPr>
              <a:t>(Bripht</a:t>
            </a:r>
            <a:r>
              <a:rPr dirty="0" sz="1900" spc="-6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1900" spc="-90">
                <a:solidFill>
                  <a:srgbClr val="6D6D6D"/>
                </a:solidFill>
                <a:latin typeface="Arial MT"/>
                <a:cs typeface="Arial MT"/>
              </a:rPr>
              <a:t>Brain</a:t>
            </a:r>
            <a:r>
              <a:rPr dirty="0" sz="1900" spc="-145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1900" spc="-100">
                <a:solidFill>
                  <a:srgbClr val="666666"/>
                </a:solidFill>
                <a:latin typeface="Arial MT"/>
                <a:cs typeface="Arial MT"/>
              </a:rPr>
              <a:t>Tissue)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695" y="5803488"/>
            <a:ext cx="1798374" cy="114656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9702" y="723534"/>
            <a:ext cx="210248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80">
                <a:solidFill>
                  <a:srgbClr val="1574AA"/>
                </a:solidFill>
                <a:latin typeface="Calibri"/>
                <a:cs typeface="Calibri"/>
              </a:rPr>
              <a:t>STEP</a:t>
            </a:r>
            <a:r>
              <a:rPr dirty="0" sz="1900" spc="160">
                <a:solidFill>
                  <a:srgbClr val="1574AA"/>
                </a:solidFill>
                <a:latin typeface="Calibri"/>
                <a:cs typeface="Calibri"/>
              </a:rPr>
              <a:t> </a:t>
            </a:r>
            <a:r>
              <a:rPr dirty="0" sz="1900" spc="195">
                <a:solidFill>
                  <a:srgbClr val="246BBA"/>
                </a:solidFill>
                <a:latin typeface="Calibri"/>
                <a:cs typeface="Calibri"/>
              </a:rPr>
              <a:t>03</a:t>
            </a:r>
            <a:r>
              <a:rPr dirty="0" sz="1900" spc="125">
                <a:solidFill>
                  <a:srgbClr val="246BBA"/>
                </a:solidFill>
                <a:latin typeface="Calibri"/>
                <a:cs typeface="Calibri"/>
              </a:rPr>
              <a:t> </a:t>
            </a:r>
            <a:r>
              <a:rPr dirty="0" sz="1900" spc="180">
                <a:solidFill>
                  <a:srgbClr val="1187BC"/>
                </a:solidFill>
                <a:latin typeface="Calibri"/>
                <a:cs typeface="Calibri"/>
              </a:rPr>
              <a:t>PIP</a:t>
            </a:r>
            <a:r>
              <a:rPr dirty="0" sz="1900" spc="180">
                <a:solidFill>
                  <a:srgbClr val="037CB1"/>
                </a:solidFill>
                <a:latin typeface="Calibri"/>
                <a:cs typeface="Calibri"/>
              </a:rPr>
              <a:t>ELINE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5"/>
              </a:spcBef>
            </a:pPr>
            <a:r>
              <a:rPr dirty="0" sz="4600" spc="260">
                <a:solidFill>
                  <a:srgbClr val="111111"/>
                </a:solidFill>
                <a:latin typeface="Calibri"/>
                <a:cs typeface="Calibri"/>
              </a:rPr>
              <a:t>Otsu</a:t>
            </a:r>
            <a:r>
              <a:rPr dirty="0" sz="4600" spc="18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dirty="0" sz="4600" spc="275">
                <a:latin typeface="Calibri"/>
                <a:cs typeface="Calibri"/>
              </a:rPr>
              <a:t>Automatic</a:t>
            </a:r>
            <a:r>
              <a:rPr dirty="0" sz="4600" spc="145">
                <a:latin typeface="Calibri"/>
                <a:cs typeface="Calibri"/>
              </a:rPr>
              <a:t> </a:t>
            </a:r>
            <a:r>
              <a:rPr dirty="0" sz="4600" spc="300">
                <a:latin typeface="Calibri"/>
                <a:cs typeface="Calibri"/>
              </a:rPr>
              <a:t>Binarization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6563" y="5010707"/>
            <a:ext cx="25577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34645" algn="l"/>
              </a:tabLst>
            </a:pPr>
            <a:r>
              <a:rPr dirty="0" sz="2050" spc="40">
                <a:solidFill>
                  <a:srgbClr val="647583"/>
                </a:solidFill>
                <a:latin typeface="Calibri"/>
                <a:cs typeface="Calibri"/>
              </a:rPr>
              <a:t>0</a:t>
            </a:r>
            <a:r>
              <a:rPr dirty="0" sz="2050">
                <a:solidFill>
                  <a:srgbClr val="647583"/>
                </a:solidFill>
                <a:latin typeface="Calibri"/>
                <a:cs typeface="Calibri"/>
              </a:rPr>
              <a:t>	</a:t>
            </a:r>
            <a:r>
              <a:rPr dirty="0" sz="2050" spc="250">
                <a:solidFill>
                  <a:srgbClr val="60708A"/>
                </a:solidFill>
                <a:latin typeface="Calibri"/>
                <a:cs typeface="Calibri"/>
              </a:rPr>
              <a:t>PTINAL</a:t>
            </a:r>
            <a:r>
              <a:rPr dirty="0" sz="2050" spc="355">
                <a:solidFill>
                  <a:srgbClr val="60708A"/>
                </a:solidFill>
                <a:latin typeface="Calibri"/>
                <a:cs typeface="Calibri"/>
              </a:rPr>
              <a:t> </a:t>
            </a:r>
            <a:r>
              <a:rPr dirty="0" sz="2050" spc="260">
                <a:solidFill>
                  <a:srgbClr val="60758A"/>
                </a:solidFill>
                <a:latin typeface="Calibri"/>
                <a:cs typeface="Calibri"/>
              </a:rPr>
              <a:t>TH</a:t>
            </a:r>
            <a:r>
              <a:rPr dirty="0" sz="2050" spc="260">
                <a:solidFill>
                  <a:srgbClr val="647293"/>
                </a:solidFill>
                <a:latin typeface="Calibri"/>
                <a:cs typeface="Calibri"/>
              </a:rPr>
              <a:t>RE</a:t>
            </a:r>
            <a:r>
              <a:rPr dirty="0" sz="2050" spc="-190">
                <a:solidFill>
                  <a:srgbClr val="647293"/>
                </a:solidFill>
                <a:latin typeface="Calibri"/>
                <a:cs typeface="Calibri"/>
              </a:rPr>
              <a:t> </a:t>
            </a:r>
            <a:r>
              <a:rPr dirty="0" sz="2050" spc="135">
                <a:solidFill>
                  <a:srgbClr val="626B87"/>
                </a:solidFill>
                <a:latin typeface="Calibri"/>
                <a:cs typeface="Calibri"/>
              </a:rPr>
              <a:t>S</a:t>
            </a:r>
            <a:r>
              <a:rPr dirty="0" sz="2050" spc="-360">
                <a:solidFill>
                  <a:srgbClr val="626B87"/>
                </a:solidFill>
                <a:latin typeface="Calibri"/>
                <a:cs typeface="Calibri"/>
              </a:rPr>
              <a:t>H</a:t>
            </a:r>
            <a:r>
              <a:rPr dirty="0" sz="2050" spc="140">
                <a:solidFill>
                  <a:srgbClr val="647583"/>
                </a:solidFill>
                <a:latin typeface="Calibri"/>
                <a:cs typeface="Calibri"/>
              </a:rPr>
              <a:t>0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6266" y="5010707"/>
            <a:ext cx="95885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90">
                <a:solidFill>
                  <a:srgbClr val="647B9A"/>
                </a:solidFill>
                <a:latin typeface="Calibri"/>
                <a:cs typeface="Calibri"/>
              </a:rPr>
              <a:t>LD</a:t>
            </a:r>
            <a:r>
              <a:rPr dirty="0" sz="2050" spc="30">
                <a:solidFill>
                  <a:srgbClr val="647B9A"/>
                </a:solidFill>
                <a:latin typeface="Calibri"/>
                <a:cs typeface="Calibri"/>
              </a:rPr>
              <a:t>  </a:t>
            </a:r>
            <a:r>
              <a:rPr dirty="0" sz="2050" spc="75">
                <a:solidFill>
                  <a:srgbClr val="6D808E"/>
                </a:solidFill>
                <a:latin typeface="Calibri"/>
                <a:cs typeface="Calibri"/>
              </a:rPr>
              <a:t>(T*</a:t>
            </a:r>
            <a:r>
              <a:rPr dirty="0" sz="2050" spc="-5">
                <a:solidFill>
                  <a:srgbClr val="6D808E"/>
                </a:solidFill>
                <a:latin typeface="Calibri"/>
                <a:cs typeface="Calibri"/>
              </a:rPr>
              <a:t> </a:t>
            </a:r>
            <a:r>
              <a:rPr dirty="0" sz="2050" spc="5">
                <a:solidFill>
                  <a:srgbClr val="6B7797"/>
                </a:solidFill>
                <a:latin typeface="Calibri"/>
                <a:cs typeface="Calibri"/>
              </a:rPr>
              <a:t>)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6309" y="7412466"/>
            <a:ext cx="624078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30">
                <a:solidFill>
                  <a:srgbClr val="333333"/>
                </a:solidFill>
                <a:latin typeface="Calibri"/>
                <a:cs typeface="Calibri"/>
              </a:rPr>
              <a:t>Calculated</a:t>
            </a:r>
            <a:r>
              <a:rPr dirty="0" sz="2300" spc="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300" spc="50">
                <a:solidFill>
                  <a:srgbClr val="363636"/>
                </a:solidFill>
                <a:latin typeface="Calibri"/>
                <a:cs typeface="Calibri"/>
              </a:rPr>
              <a:t>via</a:t>
            </a:r>
            <a:r>
              <a:rPr dirty="0" sz="2300" spc="-114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300" spc="-35">
                <a:solidFill>
                  <a:srgbClr val="2D2D2D"/>
                </a:solidFill>
                <a:latin typeface="Calibri"/>
                <a:cs typeface="Calibri"/>
              </a:rPr>
              <a:t>intra—</a:t>
            </a:r>
            <a:r>
              <a:rPr dirty="0" sz="2300">
                <a:solidFill>
                  <a:srgbClr val="2D2D2D"/>
                </a:solidFill>
                <a:latin typeface="Calibri"/>
                <a:cs typeface="Calibri"/>
              </a:rPr>
              <a:t>class</a:t>
            </a:r>
            <a:r>
              <a:rPr dirty="0" sz="2300" spc="9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300" spc="70">
                <a:solidFill>
                  <a:srgbClr val="343434"/>
                </a:solidFill>
                <a:latin typeface="Calibri"/>
                <a:cs typeface="Calibri"/>
              </a:rPr>
              <a:t>variance</a:t>
            </a:r>
            <a:r>
              <a:rPr dirty="0" sz="2300" spc="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2A2A2A"/>
                </a:solidFill>
                <a:latin typeface="Calibri"/>
                <a:cs typeface="Calibri"/>
              </a:rPr>
              <a:t>minimization.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75955" y="3836487"/>
            <a:ext cx="4706620" cy="10369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700">
                <a:solidFill>
                  <a:srgbClr val="0F0F0F"/>
                </a:solidFill>
                <a:latin typeface="Arial MT"/>
                <a:cs typeface="Arial MT"/>
              </a:rPr>
              <a:t>Non-Parametric</a:t>
            </a:r>
            <a:r>
              <a:rPr dirty="0" sz="2700" spc="23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0A0A0A"/>
                </a:solidFill>
                <a:latin typeface="Arial MT"/>
                <a:cs typeface="Arial MT"/>
              </a:rPr>
              <a:t>Segmentation</a:t>
            </a:r>
            <a:endParaRPr sz="270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840"/>
              </a:spcBef>
            </a:pPr>
            <a:r>
              <a:rPr dirty="0" sz="2450" spc="-135">
                <a:solidFill>
                  <a:srgbClr val="4B4B4B"/>
                </a:solidFill>
                <a:latin typeface="Arial MT"/>
                <a:cs typeface="Arial MT"/>
              </a:rPr>
              <a:t>No</a:t>
            </a:r>
            <a:r>
              <a:rPr dirty="0" sz="2450" spc="-10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450" spc="-160">
                <a:solidFill>
                  <a:srgbClr val="484848"/>
                </a:solidFill>
                <a:latin typeface="Arial MT"/>
                <a:cs typeface="Arial MT"/>
              </a:rPr>
              <a:t>manual</a:t>
            </a:r>
            <a:r>
              <a:rPr dirty="0" sz="2450" spc="-114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464646"/>
                </a:solidFill>
                <a:latin typeface="Arial MT"/>
                <a:cs typeface="Arial MT"/>
              </a:rPr>
              <a:t>intensity</a:t>
            </a:r>
            <a:r>
              <a:rPr dirty="0" sz="2450" spc="-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450" spc="-65">
                <a:solidFill>
                  <a:srgbClr val="494949"/>
                </a:solidFill>
                <a:latin typeface="Arial MT"/>
                <a:cs typeface="Arial MT"/>
              </a:rPr>
              <a:t>tuning</a:t>
            </a:r>
            <a:r>
              <a:rPr dirty="0" sz="2450" spc="-1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B4B4B"/>
                </a:solidFill>
                <a:latin typeface="Arial MT"/>
                <a:cs typeface="Arial MT"/>
              </a:rPr>
              <a:t>required.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73277" y="5815484"/>
            <a:ext cx="5531485" cy="10369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700" spc="100">
                <a:solidFill>
                  <a:srgbClr val="151515"/>
                </a:solidFill>
                <a:latin typeface="Calibri"/>
                <a:cs typeface="Calibri"/>
              </a:rPr>
              <a:t>Binary</a:t>
            </a:r>
            <a:r>
              <a:rPr dirty="0" sz="2700" spc="9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dirty="0" sz="2700">
                <a:solidFill>
                  <a:srgbClr val="181818"/>
                </a:solidFill>
                <a:latin typeface="Calibri"/>
                <a:cs typeface="Calibri"/>
              </a:rPr>
              <a:t>Matrix</a:t>
            </a:r>
            <a:r>
              <a:rPr dirty="0" sz="2700" spc="6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2700" spc="70">
                <a:solidFill>
                  <a:srgbClr val="0F0F0F"/>
                </a:solidFill>
                <a:latin typeface="Calibri"/>
                <a:cs typeface="Calibri"/>
              </a:rPr>
              <a:t>Generation</a:t>
            </a:r>
            <a:endParaRPr sz="2700">
              <a:latin typeface="Calibri"/>
              <a:cs typeface="Calibri"/>
            </a:endParaRPr>
          </a:p>
          <a:p>
            <a:pPr marL="26670">
              <a:lnSpc>
                <a:spcPct val="100000"/>
              </a:lnSpc>
              <a:spcBef>
                <a:spcPts val="840"/>
              </a:spcBef>
            </a:pPr>
            <a:r>
              <a:rPr dirty="0" sz="2450" spc="50">
                <a:solidFill>
                  <a:srgbClr val="595959"/>
                </a:solidFill>
                <a:latin typeface="Calibri"/>
                <a:cs typeface="Calibri"/>
              </a:rPr>
              <a:t>Converts</a:t>
            </a:r>
            <a:r>
              <a:rPr dirty="0" sz="2450" spc="8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2450" spc="55">
                <a:solidFill>
                  <a:srgbClr val="444444"/>
                </a:solidFill>
                <a:latin typeface="Calibri"/>
                <a:cs typeface="Calibri"/>
              </a:rPr>
              <a:t>image</a:t>
            </a:r>
            <a:r>
              <a:rPr dirty="0" sz="2450" spc="-3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465464"/>
                </a:solidFill>
                <a:latin typeface="Calibri"/>
                <a:cs typeface="Calibri"/>
              </a:rPr>
              <a:t>to</a:t>
            </a:r>
            <a:r>
              <a:rPr dirty="0" sz="2450" spc="-50">
                <a:solidFill>
                  <a:srgbClr val="465464"/>
                </a:solidFill>
                <a:latin typeface="Calibri"/>
                <a:cs typeface="Calibri"/>
              </a:rPr>
              <a:t> </a:t>
            </a:r>
            <a:r>
              <a:rPr dirty="0" sz="2450" spc="65">
                <a:solidFill>
                  <a:srgbClr val="444444"/>
                </a:solidFill>
                <a:latin typeface="Calibri"/>
                <a:cs typeface="Calibri"/>
              </a:rPr>
              <a:t>boolean</a:t>
            </a:r>
            <a:r>
              <a:rPr dirty="0" sz="2450" spc="-15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450" spc="55">
                <a:solidFill>
                  <a:srgbClr val="484848"/>
                </a:solidFill>
                <a:latin typeface="Calibri"/>
                <a:cs typeface="Calibri"/>
              </a:rPr>
              <a:t>(0,</a:t>
            </a:r>
            <a:r>
              <a:rPr dirty="0" sz="2450" spc="12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450" spc="60">
                <a:solidFill>
                  <a:srgbClr val="424242"/>
                </a:solidFill>
                <a:latin typeface="Calibri"/>
                <a:cs typeface="Calibri"/>
              </a:rPr>
              <a:t>255}</a:t>
            </a:r>
            <a:r>
              <a:rPr dirty="0" sz="2450" spc="-65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494949"/>
                </a:solidFill>
                <a:latin typeface="Calibri"/>
                <a:cs typeface="Calibri"/>
              </a:rPr>
              <a:t>state.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76025" y="7794481"/>
            <a:ext cx="6297295" cy="103695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2700" spc="85">
                <a:solidFill>
                  <a:srgbClr val="011F46"/>
                </a:solidFill>
                <a:latin typeface="Calibri"/>
                <a:cs typeface="Calibri"/>
              </a:rPr>
              <a:t>Tissue</a:t>
            </a:r>
            <a:r>
              <a:rPr dirty="0" sz="2700" spc="-5">
                <a:solidFill>
                  <a:srgbClr val="011F46"/>
                </a:solidFill>
                <a:latin typeface="Calibri"/>
                <a:cs typeface="Calibri"/>
              </a:rPr>
              <a:t> </a:t>
            </a:r>
            <a:r>
              <a:rPr dirty="0" sz="2700" spc="100">
                <a:solidFill>
                  <a:srgbClr val="080808"/>
                </a:solidFill>
                <a:latin typeface="Calibri"/>
                <a:cs typeface="Calibri"/>
              </a:rPr>
              <a:t>Separation</a:t>
            </a: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450" spc="60">
                <a:solidFill>
                  <a:srgbClr val="444444"/>
                </a:solidFill>
                <a:latin typeface="Calibri"/>
                <a:cs typeface="Calibri"/>
              </a:rPr>
              <a:t>Isolates</a:t>
            </a:r>
            <a:r>
              <a:rPr dirty="0" sz="2450" spc="65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464646"/>
                </a:solidFill>
                <a:latin typeface="Calibri"/>
                <a:cs typeface="Calibri"/>
              </a:rPr>
              <a:t>brain</a:t>
            </a:r>
            <a:r>
              <a:rPr dirty="0" sz="2450" spc="-2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424242"/>
                </a:solidFill>
                <a:latin typeface="Calibri"/>
                <a:cs typeface="Calibri"/>
              </a:rPr>
              <a:t>parenchyma</a:t>
            </a:r>
            <a:r>
              <a:rPr dirty="0" sz="2450" spc="11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494949"/>
                </a:solidFill>
                <a:latin typeface="Calibri"/>
                <a:cs typeface="Calibri"/>
              </a:rPr>
              <a:t>from</a:t>
            </a:r>
            <a:r>
              <a:rPr dirty="0" sz="2450" spc="-5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450" spc="85">
                <a:solidFill>
                  <a:srgbClr val="484848"/>
                </a:solidFill>
                <a:latin typeface="Calibri"/>
                <a:cs typeface="Calibri"/>
              </a:rPr>
              <a:t>background</a:t>
            </a:r>
            <a:r>
              <a:rPr dirty="0" sz="2450" spc="175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494949"/>
                </a:solidFill>
                <a:latin typeface="Calibri"/>
                <a:cs typeface="Calibri"/>
              </a:rPr>
              <a:t>air.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176" y="3439685"/>
            <a:ext cx="8717012" cy="58506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8657" y="756255"/>
            <a:ext cx="209105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1574AA"/>
                </a:solidFill>
                <a:latin typeface="Arial MT"/>
                <a:cs typeface="Arial MT"/>
              </a:rPr>
              <a:t>STEP</a:t>
            </a:r>
            <a:r>
              <a:rPr dirty="0" sz="1650" spc="220">
                <a:solidFill>
                  <a:srgbClr val="1574A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6BBA"/>
                </a:solidFill>
                <a:latin typeface="Arial MT"/>
                <a:cs typeface="Arial MT"/>
              </a:rPr>
              <a:t>0</a:t>
            </a:r>
            <a:r>
              <a:rPr dirty="0" sz="1650" spc="-15">
                <a:solidFill>
                  <a:srgbClr val="246BBA"/>
                </a:solidFill>
                <a:latin typeface="Arial MT"/>
                <a:cs typeface="Arial MT"/>
              </a:rPr>
              <a:t> </a:t>
            </a:r>
            <a:r>
              <a:rPr dirty="0" sz="1650" spc="80">
                <a:solidFill>
                  <a:srgbClr val="1F8EDB"/>
                </a:solidFill>
                <a:latin typeface="Arial MT"/>
                <a:cs typeface="Arial MT"/>
              </a:rPr>
              <a:t>5</a:t>
            </a:r>
            <a:r>
              <a:rPr dirty="0" sz="1650" spc="145">
                <a:solidFill>
                  <a:srgbClr val="1F8EDB"/>
                </a:solidFill>
                <a:latin typeface="Arial MT"/>
                <a:cs typeface="Arial MT"/>
              </a:rPr>
              <a:t> </a:t>
            </a:r>
            <a:r>
              <a:rPr dirty="0" sz="1650" spc="85">
                <a:solidFill>
                  <a:srgbClr val="1187BC"/>
                </a:solidFill>
                <a:latin typeface="Arial MT"/>
                <a:cs typeface="Arial MT"/>
              </a:rPr>
              <a:t>PIPELINE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35"/>
              </a:spcBef>
            </a:pPr>
            <a:r>
              <a:rPr dirty="0" sz="4600" spc="125">
                <a:solidFill>
                  <a:srgbClr val="111111"/>
                </a:solidFill>
              </a:rPr>
              <a:t>Morphological</a:t>
            </a:r>
            <a:r>
              <a:rPr dirty="0" sz="4600" spc="305">
                <a:solidFill>
                  <a:srgbClr val="111111"/>
                </a:solidFill>
              </a:rPr>
              <a:t> </a:t>
            </a:r>
            <a:r>
              <a:rPr dirty="0" sz="4600" spc="95">
                <a:solidFill>
                  <a:srgbClr val="111111"/>
                </a:solidFill>
              </a:rPr>
              <a:t>Boundarg</a:t>
            </a:r>
            <a:r>
              <a:rPr dirty="0" sz="4600" spc="60">
                <a:solidFill>
                  <a:srgbClr val="111111"/>
                </a:solidFill>
              </a:rPr>
              <a:t> </a:t>
            </a:r>
            <a:r>
              <a:rPr dirty="0" sz="4600" spc="145">
                <a:solidFill>
                  <a:srgbClr val="151515"/>
                </a:solidFill>
              </a:rPr>
              <a:t>Extraction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1385083" y="4824194"/>
            <a:ext cx="286829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6B6B6B"/>
                </a:solidFill>
                <a:latin typeface="Arial MT"/>
                <a:cs typeface="Arial MT"/>
              </a:rPr>
              <a:t>MATHEMATICAL</a:t>
            </a:r>
            <a:r>
              <a:rPr dirty="0" sz="1650" spc="45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667282"/>
                </a:solidFill>
                <a:latin typeface="Arial MT"/>
                <a:cs typeface="Arial MT"/>
              </a:rPr>
              <a:t>FORMULA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1120" y="5207690"/>
            <a:ext cx="344932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290">
                <a:solidFill>
                  <a:srgbClr val="0A83CA"/>
                </a:solidFill>
                <a:latin typeface="Calibri"/>
                <a:cs typeface="Calibri"/>
              </a:rPr>
              <a:t>§(A)</a:t>
            </a:r>
            <a:r>
              <a:rPr dirty="0" sz="3450" spc="275">
                <a:solidFill>
                  <a:srgbClr val="0A83CA"/>
                </a:solidFill>
                <a:latin typeface="Calibri"/>
                <a:cs typeface="Calibri"/>
              </a:rPr>
              <a:t> </a:t>
            </a:r>
            <a:r>
              <a:rPr dirty="0" sz="3450">
                <a:solidFill>
                  <a:srgbClr val="0185C4"/>
                </a:solidFill>
                <a:latin typeface="Calibri"/>
                <a:cs typeface="Calibri"/>
              </a:rPr>
              <a:t>=</a:t>
            </a:r>
            <a:r>
              <a:rPr dirty="0" sz="3450" spc="265">
                <a:solidFill>
                  <a:srgbClr val="0185C4"/>
                </a:solidFill>
                <a:latin typeface="Calibri"/>
                <a:cs typeface="Calibri"/>
              </a:rPr>
              <a:t> </a:t>
            </a:r>
            <a:r>
              <a:rPr dirty="0" sz="3450" spc="120">
                <a:solidFill>
                  <a:srgbClr val="0382D1"/>
                </a:solidFill>
                <a:latin typeface="Calibri"/>
                <a:cs typeface="Calibri"/>
              </a:rPr>
              <a:t>A</a:t>
            </a:r>
            <a:r>
              <a:rPr dirty="0" sz="3450" spc="430">
                <a:solidFill>
                  <a:srgbClr val="0382D1"/>
                </a:solidFill>
                <a:latin typeface="Calibri"/>
                <a:cs typeface="Calibri"/>
              </a:rPr>
              <a:t> </a:t>
            </a:r>
            <a:r>
              <a:rPr dirty="0" sz="3450" spc="70">
                <a:solidFill>
                  <a:srgbClr val="0F89C1"/>
                </a:solidFill>
                <a:latin typeface="Calibri"/>
                <a:cs typeface="Calibri"/>
              </a:rPr>
              <a:t>-</a:t>
            </a:r>
            <a:r>
              <a:rPr dirty="0" sz="3450" spc="765">
                <a:solidFill>
                  <a:srgbClr val="0F89C1"/>
                </a:solidFill>
                <a:latin typeface="Calibri"/>
                <a:cs typeface="Calibri"/>
              </a:rPr>
              <a:t> </a:t>
            </a:r>
            <a:r>
              <a:rPr dirty="0" sz="3450" spc="85">
                <a:solidFill>
                  <a:srgbClr val="0890D1"/>
                </a:solidFill>
                <a:latin typeface="Calibri"/>
                <a:cs typeface="Calibri"/>
              </a:rPr>
              <a:t>(A</a:t>
            </a:r>
            <a:r>
              <a:rPr dirty="0" sz="3450" spc="200">
                <a:solidFill>
                  <a:srgbClr val="0890D1"/>
                </a:solidFill>
                <a:latin typeface="Calibri"/>
                <a:cs typeface="Calibri"/>
              </a:rPr>
              <a:t> </a:t>
            </a:r>
            <a:r>
              <a:rPr dirty="0" sz="3450" spc="114">
                <a:solidFill>
                  <a:srgbClr val="0579AA"/>
                </a:solidFill>
                <a:latin typeface="Calibri"/>
                <a:cs typeface="Calibri"/>
              </a:rPr>
              <a:t>•</a:t>
            </a:r>
            <a:r>
              <a:rPr dirty="0" sz="3450" spc="140">
                <a:solidFill>
                  <a:srgbClr val="0579AA"/>
                </a:solidFill>
                <a:latin typeface="Calibri"/>
                <a:cs typeface="Calibri"/>
              </a:rPr>
              <a:t> </a:t>
            </a:r>
            <a:r>
              <a:rPr dirty="0" sz="3450" spc="60">
                <a:solidFill>
                  <a:srgbClr val="017ECD"/>
                </a:solidFill>
                <a:latin typeface="Calibri"/>
                <a:cs typeface="Calibri"/>
              </a:rPr>
              <a:t>B)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2914" y="6485793"/>
            <a:ext cx="8698230" cy="19024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14"/>
              </a:spcBef>
            </a:pPr>
            <a:r>
              <a:rPr dirty="0" sz="2300" spc="50">
                <a:solidFill>
                  <a:srgbClr val="384660"/>
                </a:solidFill>
                <a:latin typeface="Arial MT"/>
                <a:cs typeface="Arial MT"/>
              </a:rPr>
              <a:t>Set</a:t>
            </a:r>
            <a:r>
              <a:rPr dirty="0" sz="2300" spc="-210">
                <a:solidFill>
                  <a:srgbClr val="384660"/>
                </a:solidFill>
                <a:latin typeface="Arial MT"/>
                <a:cs typeface="Arial MT"/>
              </a:rPr>
              <a:t> </a:t>
            </a:r>
            <a:r>
              <a:rPr dirty="0" sz="2300" spc="95">
                <a:solidFill>
                  <a:srgbClr val="333333"/>
                </a:solidFill>
                <a:latin typeface="Arial MT"/>
                <a:cs typeface="Arial MT"/>
              </a:rPr>
              <a:t>Difference:</a:t>
            </a:r>
            <a:r>
              <a:rPr dirty="0" sz="2300" spc="6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313131"/>
                </a:solidFill>
                <a:latin typeface="Arial MT"/>
                <a:cs typeface="Arial MT"/>
              </a:rPr>
              <a:t>Subtracts</a:t>
            </a:r>
            <a:r>
              <a:rPr dirty="0" sz="2300" spc="-3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2D2D2D"/>
                </a:solidFill>
                <a:latin typeface="Arial MT"/>
                <a:cs typeface="Arial MT"/>
              </a:rPr>
              <a:t>eroded</a:t>
            </a:r>
            <a:r>
              <a:rPr dirty="0" sz="2300" spc="-6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2300" spc="-35">
                <a:solidFill>
                  <a:srgbClr val="7593AC"/>
                </a:solidFill>
                <a:latin typeface="Arial MT"/>
                <a:cs typeface="Arial MT"/>
              </a:rPr>
              <a:t>mask</a:t>
            </a:r>
            <a:r>
              <a:rPr dirty="0" sz="2300" spc="-50">
                <a:solidFill>
                  <a:srgbClr val="7593AC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363636"/>
                </a:solidFill>
                <a:latin typeface="Arial MT"/>
                <a:cs typeface="Arial MT"/>
              </a:rPr>
              <a:t>from</a:t>
            </a:r>
            <a:r>
              <a:rPr dirty="0" sz="2300" spc="-135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13131"/>
                </a:solidFill>
                <a:latin typeface="Arial MT"/>
                <a:cs typeface="Arial MT"/>
              </a:rPr>
              <a:t>original</a:t>
            </a:r>
            <a:r>
              <a:rPr dirty="0" sz="2300" spc="-15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2F2F2F"/>
                </a:solidFill>
                <a:latin typeface="Arial MT"/>
                <a:cs typeface="Arial MT"/>
              </a:rPr>
              <a:t>binary</a:t>
            </a:r>
            <a:r>
              <a:rPr dirty="0" sz="2300" spc="-7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D3D3D"/>
                </a:solidFill>
                <a:latin typeface="Arial MT"/>
                <a:cs typeface="Arial MT"/>
              </a:rPr>
              <a:t>mask.</a:t>
            </a:r>
            <a:endParaRPr sz="2300">
              <a:latin typeface="Arial MT"/>
              <a:cs typeface="Arial MT"/>
            </a:endParaRPr>
          </a:p>
          <a:p>
            <a:pPr marL="12700" indent="1905">
              <a:lnSpc>
                <a:spcPct val="100000"/>
              </a:lnSpc>
              <a:spcBef>
                <a:spcPts val="1820"/>
              </a:spcBef>
            </a:pPr>
            <a:r>
              <a:rPr dirty="0" sz="2300" spc="85">
                <a:solidFill>
                  <a:srgbClr val="383838"/>
                </a:solidFill>
                <a:latin typeface="Arial MT"/>
                <a:cs typeface="Arial MT"/>
              </a:rPr>
              <a:t>Single-Pixel</a:t>
            </a:r>
            <a:r>
              <a:rPr dirty="0" sz="2300" spc="12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 spc="114">
                <a:solidFill>
                  <a:srgbClr val="3A3A3A"/>
                </a:solidFill>
                <a:latin typeface="Arial MT"/>
                <a:cs typeface="Arial MT"/>
              </a:rPr>
              <a:t>Contour:</a:t>
            </a:r>
            <a:r>
              <a:rPr dirty="0" sz="2300" spc="12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63636"/>
                </a:solidFill>
                <a:latin typeface="Arial MT"/>
                <a:cs typeface="Arial MT"/>
              </a:rPr>
              <a:t>Produces</a:t>
            </a:r>
            <a:r>
              <a:rPr dirty="0" sz="2300" spc="7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43434"/>
                </a:solidFill>
                <a:latin typeface="Arial MT"/>
                <a:cs typeface="Arial MT"/>
              </a:rPr>
              <a:t>exact</a:t>
            </a:r>
            <a:r>
              <a:rPr dirty="0" sz="2300" spc="2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63636"/>
                </a:solidFill>
                <a:latin typeface="Arial MT"/>
                <a:cs typeface="Arial MT"/>
              </a:rPr>
              <a:t>l</a:t>
            </a:r>
            <a:r>
              <a:rPr dirty="0" sz="2300" spc="3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dirty="0" sz="2300" spc="-350">
                <a:solidFill>
                  <a:srgbClr val="383838"/>
                </a:solidFill>
                <a:latin typeface="Arial MT"/>
                <a:cs typeface="Arial MT"/>
              </a:rPr>
              <a:t>—</a:t>
            </a:r>
            <a:r>
              <a:rPr dirty="0" sz="2300" spc="-155">
                <a:solidFill>
                  <a:srgbClr val="383838"/>
                </a:solidFill>
                <a:latin typeface="Arial MT"/>
                <a:cs typeface="Arial MT"/>
              </a:rPr>
              <a:t>pixel</a:t>
            </a:r>
            <a:r>
              <a:rPr dirty="0" sz="230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282828"/>
                </a:solidFill>
                <a:latin typeface="Arial MT"/>
                <a:cs typeface="Arial MT"/>
              </a:rPr>
              <a:t>structural</a:t>
            </a:r>
            <a:r>
              <a:rPr dirty="0" sz="2300" spc="2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313131"/>
                </a:solidFill>
                <a:latin typeface="Arial MT"/>
                <a:cs typeface="Arial MT"/>
              </a:rPr>
              <a:t>outline.</a:t>
            </a:r>
            <a:endParaRPr sz="2300">
              <a:latin typeface="Arial MT"/>
              <a:cs typeface="Arial MT"/>
            </a:endParaRPr>
          </a:p>
          <a:p>
            <a:pPr marL="18415" marR="346710" indent="-6350">
              <a:lnSpc>
                <a:spcPct val="103099"/>
              </a:lnSpc>
              <a:spcBef>
                <a:spcPts val="1730"/>
              </a:spcBef>
            </a:pPr>
            <a:r>
              <a:rPr dirty="0" sz="2300" spc="-40">
                <a:solidFill>
                  <a:srgbClr val="334454"/>
                </a:solidFill>
                <a:latin typeface="Arial MT"/>
                <a:cs typeface="Arial MT"/>
              </a:rPr>
              <a:t>Red</a:t>
            </a:r>
            <a:r>
              <a:rPr dirty="0" sz="2300" spc="-135">
                <a:solidFill>
                  <a:srgbClr val="33445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83838"/>
                </a:solidFill>
                <a:latin typeface="Arial MT"/>
                <a:cs typeface="Arial MT"/>
              </a:rPr>
              <a:t>Channel</a:t>
            </a:r>
            <a:r>
              <a:rPr dirty="0" sz="2300" spc="95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 spc="80">
                <a:solidFill>
                  <a:srgbClr val="343434"/>
                </a:solidFill>
                <a:latin typeface="Arial MT"/>
                <a:cs typeface="Arial MT"/>
              </a:rPr>
              <a:t>Overlay:</a:t>
            </a:r>
            <a:r>
              <a:rPr dirty="0" sz="2300" spc="19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2B2B2B"/>
                </a:solidFill>
                <a:latin typeface="Arial MT"/>
                <a:cs typeface="Arial MT"/>
              </a:rPr>
              <a:t>Superimposes</a:t>
            </a:r>
            <a:r>
              <a:rPr dirty="0" sz="2300" spc="285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343434"/>
                </a:solidFill>
                <a:latin typeface="Arial MT"/>
                <a:cs typeface="Arial MT"/>
              </a:rPr>
              <a:t>boundary</a:t>
            </a:r>
            <a:r>
              <a:rPr dirty="0" sz="2300" spc="175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dirty="0" sz="2300" spc="105">
                <a:solidFill>
                  <a:srgbClr val="383838"/>
                </a:solidFill>
                <a:latin typeface="Arial MT"/>
                <a:cs typeface="Arial MT"/>
              </a:rPr>
              <a:t>onto</a:t>
            </a:r>
            <a:r>
              <a:rPr dirty="0" sz="2300" spc="1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282828"/>
                </a:solidFill>
                <a:latin typeface="Arial MT"/>
                <a:cs typeface="Arial MT"/>
              </a:rPr>
              <a:t>grayscale </a:t>
            </a:r>
            <a:r>
              <a:rPr dirty="0" sz="2300" spc="-10">
                <a:solidFill>
                  <a:srgbClr val="343434"/>
                </a:solidFill>
                <a:latin typeface="Arial MT"/>
                <a:cs typeface="Arial MT"/>
              </a:rPr>
              <a:t>scan.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8657" y="756255"/>
            <a:ext cx="207518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1574AA"/>
                </a:solidFill>
                <a:latin typeface="Arial MT"/>
                <a:cs typeface="Arial MT"/>
              </a:rPr>
              <a:t>STEP</a:t>
            </a:r>
            <a:r>
              <a:rPr dirty="0" sz="1650" spc="225">
                <a:solidFill>
                  <a:srgbClr val="1574A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6BBA"/>
                </a:solidFill>
                <a:latin typeface="Arial MT"/>
                <a:cs typeface="Arial MT"/>
              </a:rPr>
              <a:t>0</a:t>
            </a:r>
            <a:r>
              <a:rPr dirty="0" sz="1650" spc="-5">
                <a:solidFill>
                  <a:srgbClr val="246BBA"/>
                </a:solidFill>
                <a:latin typeface="Arial MT"/>
                <a:cs typeface="Arial MT"/>
              </a:rPr>
              <a:t> </a:t>
            </a:r>
            <a:r>
              <a:rPr dirty="0" sz="1650" spc="80">
                <a:solidFill>
                  <a:srgbClr val="1391C3"/>
                </a:solidFill>
                <a:latin typeface="Arial MT"/>
                <a:cs typeface="Arial MT"/>
              </a:rPr>
              <a:t>6</a:t>
            </a:r>
            <a:r>
              <a:rPr dirty="0" sz="1650" spc="5">
                <a:solidFill>
                  <a:srgbClr val="1391C3"/>
                </a:solidFill>
                <a:latin typeface="Arial MT"/>
                <a:cs typeface="Arial MT"/>
              </a:rPr>
              <a:t> </a:t>
            </a:r>
            <a:r>
              <a:rPr dirty="0" sz="1650" spc="85">
                <a:solidFill>
                  <a:srgbClr val="0079C1"/>
                </a:solidFill>
                <a:latin typeface="Arial MT"/>
                <a:cs typeface="Arial MT"/>
              </a:rPr>
              <a:t>PIPELINE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35"/>
              </a:spcBef>
            </a:pPr>
            <a:r>
              <a:rPr dirty="0" sz="4600" spc="195">
                <a:solidFill>
                  <a:srgbClr val="111111"/>
                </a:solidFill>
              </a:rPr>
              <a:t>Structuring</a:t>
            </a:r>
            <a:r>
              <a:rPr dirty="0" sz="4600" spc="45">
                <a:solidFill>
                  <a:srgbClr val="111111"/>
                </a:solidFill>
              </a:rPr>
              <a:t> </a:t>
            </a:r>
            <a:r>
              <a:rPr dirty="0" sz="4600">
                <a:solidFill>
                  <a:srgbClr val="111111"/>
                </a:solidFill>
              </a:rPr>
              <a:t>Element</a:t>
            </a:r>
            <a:r>
              <a:rPr dirty="0" sz="4600" spc="125">
                <a:solidFill>
                  <a:srgbClr val="111111"/>
                </a:solidFill>
              </a:rPr>
              <a:t> </a:t>
            </a:r>
            <a:r>
              <a:rPr dirty="0" sz="4600">
                <a:solidFill>
                  <a:srgbClr val="151515"/>
                </a:solidFill>
              </a:rPr>
              <a:t>Scale</a:t>
            </a:r>
            <a:r>
              <a:rPr dirty="0" sz="4600" spc="-60">
                <a:solidFill>
                  <a:srgbClr val="151515"/>
                </a:solidFill>
              </a:rPr>
              <a:t> </a:t>
            </a:r>
            <a:r>
              <a:rPr dirty="0" sz="4600" spc="120">
                <a:solidFill>
                  <a:srgbClr val="161616"/>
                </a:solidFill>
              </a:rPr>
              <a:t>Impact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1571872" y="5750213"/>
            <a:ext cx="12331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0">
                <a:solidFill>
                  <a:srgbClr val="0C6991"/>
                </a:solidFill>
                <a:latin typeface="Arial MT"/>
                <a:cs typeface="Arial MT"/>
              </a:rPr>
              <a:t>3</a:t>
            </a:r>
            <a:r>
              <a:rPr dirty="0" sz="1800" spc="25">
                <a:solidFill>
                  <a:srgbClr val="0C6991"/>
                </a:solidFill>
                <a:latin typeface="Arial MT"/>
                <a:cs typeface="Arial MT"/>
              </a:rPr>
              <a:t> </a:t>
            </a:r>
            <a:r>
              <a:rPr dirty="0" sz="1800" spc="-225">
                <a:solidFill>
                  <a:srgbClr val="0C6B9E"/>
                </a:solidFill>
                <a:latin typeface="Arial MT"/>
                <a:cs typeface="Arial MT"/>
              </a:rPr>
              <a:t>x</a:t>
            </a:r>
            <a:r>
              <a:rPr dirty="0" sz="1800" spc="-70">
                <a:solidFill>
                  <a:srgbClr val="0C6B9E"/>
                </a:solidFill>
                <a:latin typeface="Arial MT"/>
                <a:cs typeface="Arial MT"/>
              </a:rPr>
              <a:t> </a:t>
            </a:r>
            <a:r>
              <a:rPr dirty="0" sz="1800" spc="80">
                <a:solidFill>
                  <a:srgbClr val="015B7E"/>
                </a:solidFill>
                <a:latin typeface="Arial MT"/>
                <a:cs typeface="Arial MT"/>
              </a:rPr>
              <a:t>3</a:t>
            </a:r>
            <a:r>
              <a:rPr dirty="0" sz="1800" spc="-220">
                <a:solidFill>
                  <a:srgbClr val="015B7E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06BA1"/>
                </a:solidFill>
                <a:latin typeface="Arial MT"/>
                <a:cs typeface="Arial MT"/>
              </a:rPr>
              <a:t>Kernel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3222" y="6326766"/>
            <a:ext cx="4410075" cy="792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65"/>
              </a:lnSpc>
              <a:spcBef>
                <a:spcPts val="105"/>
              </a:spcBef>
            </a:pPr>
            <a:r>
              <a:rPr dirty="0" sz="2700">
                <a:solidFill>
                  <a:srgbClr val="151515"/>
                </a:solidFill>
                <a:latin typeface="Arial MT"/>
                <a:cs typeface="Arial MT"/>
              </a:rPr>
              <a:t>Mild</a:t>
            </a:r>
            <a:r>
              <a:rPr dirty="0" sz="2700" spc="-215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111111"/>
                </a:solidFill>
                <a:latin typeface="Arial MT"/>
                <a:cs typeface="Arial MT"/>
              </a:rPr>
              <a:t>Thinning</a:t>
            </a:r>
            <a:endParaRPr sz="2700">
              <a:latin typeface="Arial MT"/>
              <a:cs typeface="Arial MT"/>
            </a:endParaRPr>
          </a:p>
          <a:p>
            <a:pPr marL="13970">
              <a:lnSpc>
                <a:spcPts val="2865"/>
              </a:lnSpc>
            </a:pPr>
            <a:r>
              <a:rPr dirty="0" sz="2450" spc="-110">
                <a:solidFill>
                  <a:srgbClr val="444444"/>
                </a:solidFill>
                <a:latin typeface="Arial MT"/>
                <a:cs typeface="Arial MT"/>
              </a:rPr>
              <a:t>Preserves</a:t>
            </a:r>
            <a:r>
              <a:rPr dirty="0" sz="2450" spc="-2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-80">
                <a:solidFill>
                  <a:srgbClr val="677C97"/>
                </a:solidFill>
                <a:latin typeface="Arial MT"/>
                <a:cs typeface="Arial MT"/>
              </a:rPr>
              <a:t>fine</a:t>
            </a:r>
            <a:r>
              <a:rPr dirty="0" sz="2450" spc="-195">
                <a:solidFill>
                  <a:srgbClr val="677C97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4B4B4B"/>
                </a:solidFill>
                <a:latin typeface="Arial MT"/>
                <a:cs typeface="Arial MT"/>
              </a:rPr>
              <a:t>anatomical</a:t>
            </a:r>
            <a:r>
              <a:rPr dirty="0" sz="2450" spc="-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details.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28867" y="5750213"/>
            <a:ext cx="12331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>
                <a:solidFill>
                  <a:srgbClr val="0C6B4D"/>
                </a:solidFill>
                <a:latin typeface="Arial MT"/>
                <a:cs typeface="Arial MT"/>
              </a:rPr>
              <a:t>5</a:t>
            </a:r>
            <a:r>
              <a:rPr dirty="0" sz="1800" spc="40">
                <a:solidFill>
                  <a:srgbClr val="0C6B4D"/>
                </a:solidFill>
                <a:latin typeface="Arial MT"/>
                <a:cs typeface="Arial MT"/>
              </a:rPr>
              <a:t> </a:t>
            </a:r>
            <a:r>
              <a:rPr dirty="0" sz="1800" spc="-220">
                <a:solidFill>
                  <a:srgbClr val="005B49"/>
                </a:solidFill>
                <a:latin typeface="Arial MT"/>
                <a:cs typeface="Arial MT"/>
              </a:rPr>
              <a:t>x</a:t>
            </a:r>
            <a:r>
              <a:rPr dirty="0" sz="1800" spc="-15">
                <a:solidFill>
                  <a:srgbClr val="005B49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F7E5B"/>
                </a:solidFill>
                <a:latin typeface="Arial MT"/>
                <a:cs typeface="Arial MT"/>
              </a:rPr>
              <a:t>5</a:t>
            </a:r>
            <a:r>
              <a:rPr dirty="0" sz="1800" spc="-190">
                <a:solidFill>
                  <a:srgbClr val="1F7E5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077957"/>
                </a:solidFill>
                <a:latin typeface="Arial MT"/>
                <a:cs typeface="Arial MT"/>
              </a:rPr>
              <a:t>Kernel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42532" y="6359488"/>
            <a:ext cx="44754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150">
                <a:solidFill>
                  <a:srgbClr val="0C0C0C"/>
                </a:solidFill>
                <a:latin typeface="Arial MT"/>
                <a:cs typeface="Arial MT"/>
              </a:rPr>
              <a:t>Moderate</a:t>
            </a:r>
            <a:r>
              <a:rPr dirty="0" sz="2450" spc="-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131313"/>
                </a:solidFill>
                <a:latin typeface="Arial MT"/>
                <a:cs typeface="Arial MT"/>
              </a:rPr>
              <a:t>Shrinking</a:t>
            </a:r>
            <a:endParaRPr sz="24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55"/>
              </a:spcBef>
            </a:pPr>
            <a:r>
              <a:rPr dirty="0" sz="2300" spc="50">
                <a:solidFill>
                  <a:srgbClr val="484848"/>
                </a:solidFill>
                <a:latin typeface="Arial MT"/>
                <a:cs typeface="Arial MT"/>
              </a:rPr>
              <a:t>Smoothes</a:t>
            </a:r>
            <a:r>
              <a:rPr dirty="0" sz="2300" spc="7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14141"/>
                </a:solidFill>
                <a:latin typeface="Arial MT"/>
                <a:cs typeface="Arial MT"/>
              </a:rPr>
              <a:t>structural</a:t>
            </a:r>
            <a:r>
              <a:rPr dirty="0" sz="2300" spc="4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4F4F4F"/>
                </a:solidFill>
                <a:latin typeface="Arial MT"/>
                <a:cs typeface="Arial MT"/>
              </a:rPr>
              <a:t>outer</a:t>
            </a:r>
            <a:r>
              <a:rPr dirty="0" sz="23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494949"/>
                </a:solidFill>
                <a:latin typeface="Arial MT"/>
                <a:cs typeface="Arial MT"/>
              </a:rPr>
              <a:t>edges.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84408" y="5750213"/>
            <a:ext cx="12026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A51C15"/>
                </a:solidFill>
                <a:latin typeface="Arial MT"/>
                <a:cs typeface="Arial MT"/>
              </a:rPr>
              <a:t>7</a:t>
            </a:r>
            <a:r>
              <a:rPr dirty="0" sz="1800" spc="-80">
                <a:solidFill>
                  <a:srgbClr val="A51C15"/>
                </a:solidFill>
                <a:latin typeface="Arial MT"/>
                <a:cs typeface="Arial MT"/>
              </a:rPr>
              <a:t> </a:t>
            </a:r>
            <a:r>
              <a:rPr dirty="0" sz="1800" spc="-160">
                <a:solidFill>
                  <a:srgbClr val="C12A2B"/>
                </a:solidFill>
                <a:latin typeface="Arial MT"/>
                <a:cs typeface="Arial MT"/>
              </a:rPr>
              <a:t>x</a:t>
            </a:r>
            <a:r>
              <a:rPr dirty="0" sz="1800" spc="-65">
                <a:solidFill>
                  <a:srgbClr val="C12A2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A71518"/>
                </a:solidFill>
                <a:latin typeface="Arial MT"/>
                <a:cs typeface="Arial MT"/>
              </a:rPr>
              <a:t>7</a:t>
            </a:r>
            <a:r>
              <a:rPr dirty="0" sz="1800" spc="-265">
                <a:solidFill>
                  <a:srgbClr val="A71518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CD1821"/>
                </a:solidFill>
                <a:latin typeface="Arial MT"/>
                <a:cs typeface="Arial MT"/>
              </a:rPr>
              <a:t>Kernel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99183" y="6359488"/>
            <a:ext cx="391287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0A0A0A"/>
                </a:solidFill>
                <a:latin typeface="Arial MT"/>
                <a:cs typeface="Arial MT"/>
              </a:rPr>
              <a:t>Severe</a:t>
            </a:r>
            <a:r>
              <a:rPr dirty="0" sz="2450" spc="23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31313"/>
                </a:solidFill>
                <a:latin typeface="Arial MT"/>
                <a:cs typeface="Arial MT"/>
              </a:rPr>
              <a:t>Loss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Erodes</a:t>
            </a:r>
            <a:r>
              <a:rPr dirty="0" sz="2300" spc="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critical</a:t>
            </a:r>
            <a:r>
              <a:rPr dirty="0" sz="2300" spc="-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D4D4D"/>
                </a:solidFill>
                <a:latin typeface="Arial MT"/>
                <a:cs typeface="Arial MT"/>
              </a:rPr>
              <a:t>thin</a:t>
            </a:r>
            <a:r>
              <a:rPr dirty="0" sz="2300" spc="-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94949"/>
                </a:solidFill>
                <a:latin typeface="Arial MT"/>
                <a:cs typeface="Arial MT"/>
              </a:rPr>
              <a:t>structures.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8657" y="756255"/>
            <a:ext cx="207518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1574AA"/>
                </a:solidFill>
                <a:latin typeface="Arial MT"/>
                <a:cs typeface="Arial MT"/>
              </a:rPr>
              <a:t>STEP</a:t>
            </a:r>
            <a:r>
              <a:rPr dirty="0" sz="1650" spc="235">
                <a:solidFill>
                  <a:srgbClr val="1574AA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246BBA"/>
                </a:solidFill>
                <a:latin typeface="Arial MT"/>
                <a:cs typeface="Arial MT"/>
              </a:rPr>
              <a:t>07</a:t>
            </a:r>
            <a:r>
              <a:rPr dirty="0" sz="1650" spc="30">
                <a:solidFill>
                  <a:srgbClr val="246BBA"/>
                </a:solidFill>
                <a:latin typeface="Arial MT"/>
                <a:cs typeface="Arial MT"/>
              </a:rPr>
              <a:t>  </a:t>
            </a:r>
            <a:r>
              <a:rPr dirty="0" sz="1650" spc="85">
                <a:solidFill>
                  <a:srgbClr val="0079C1"/>
                </a:solidFill>
                <a:latin typeface="Arial MT"/>
                <a:cs typeface="Arial MT"/>
              </a:rPr>
              <a:t>PIPELINE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6842" y="1086088"/>
            <a:ext cx="8478520" cy="75184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750">
                <a:solidFill>
                  <a:srgbClr val="161616"/>
                </a:solidFill>
              </a:rPr>
              <a:t>Master</a:t>
            </a:r>
            <a:r>
              <a:rPr dirty="0" sz="4750" spc="325">
                <a:solidFill>
                  <a:srgbClr val="161616"/>
                </a:solidFill>
              </a:rPr>
              <a:t> </a:t>
            </a:r>
            <a:r>
              <a:rPr dirty="0" sz="4750"/>
              <a:t>Pipeline</a:t>
            </a:r>
            <a:r>
              <a:rPr dirty="0" sz="4750" spc="175"/>
              <a:t> </a:t>
            </a:r>
            <a:r>
              <a:rPr dirty="0" sz="4750">
                <a:solidFill>
                  <a:srgbClr val="111111"/>
                </a:solidFill>
              </a:rPr>
              <a:t>Execution</a:t>
            </a:r>
            <a:r>
              <a:rPr dirty="0" sz="4750" spc="100">
                <a:solidFill>
                  <a:srgbClr val="111111"/>
                </a:solidFill>
              </a:rPr>
              <a:t> </a:t>
            </a:r>
            <a:r>
              <a:rPr dirty="0" sz="4750" spc="-60">
                <a:solidFill>
                  <a:srgbClr val="161616"/>
                </a:solidFill>
              </a:rPr>
              <a:t>Flow</a:t>
            </a:r>
            <a:endParaRPr sz="4750"/>
          </a:p>
        </p:txBody>
      </p:sp>
      <p:sp>
        <p:nvSpPr>
          <p:cNvPr id="4" name="object 4"/>
          <p:cNvSpPr txBox="1"/>
          <p:nvPr/>
        </p:nvSpPr>
        <p:spPr>
          <a:xfrm>
            <a:off x="2263544" y="3642948"/>
            <a:ext cx="5062855" cy="7023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35">
                <a:solidFill>
                  <a:srgbClr val="081642"/>
                </a:solidFill>
                <a:latin typeface="Calibri"/>
                <a:cs typeface="Calibri"/>
              </a:rPr>
              <a:t>Input</a:t>
            </a:r>
            <a:r>
              <a:rPr dirty="0" sz="2300" spc="-85">
                <a:solidFill>
                  <a:srgbClr val="08164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001126"/>
                </a:solidFill>
                <a:latin typeface="Calibri"/>
                <a:cs typeface="Calibri"/>
              </a:rPr>
              <a:t>&amp;</a:t>
            </a:r>
            <a:r>
              <a:rPr dirty="0" sz="2300" spc="-90">
                <a:solidFill>
                  <a:srgbClr val="001126"/>
                </a:solidFill>
                <a:latin typeface="Calibri"/>
                <a:cs typeface="Calibri"/>
              </a:rPr>
              <a:t> </a:t>
            </a:r>
            <a:r>
              <a:rPr dirty="0" sz="2300" spc="114">
                <a:solidFill>
                  <a:srgbClr val="131313"/>
                </a:solidFill>
                <a:latin typeface="Calibri"/>
                <a:cs typeface="Calibri"/>
              </a:rPr>
              <a:t>Normalization</a:t>
            </a:r>
            <a:endParaRPr sz="23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2050" spc="125">
                <a:solidFill>
                  <a:srgbClr val="727272"/>
                </a:solidFill>
                <a:latin typeface="Calibri"/>
                <a:cs typeface="Calibri"/>
              </a:rPr>
              <a:t>Graysc</a:t>
            </a:r>
            <a:r>
              <a:rPr dirty="0" sz="2050" spc="-235">
                <a:solidFill>
                  <a:srgbClr val="727272"/>
                </a:solidFill>
                <a:latin typeface="Calibri"/>
                <a:cs typeface="Calibri"/>
              </a:rPr>
              <a:t> </a:t>
            </a:r>
            <a:r>
              <a:rPr dirty="0" sz="2050" spc="100">
                <a:solidFill>
                  <a:srgbClr val="6E6E6E"/>
                </a:solidFill>
                <a:latin typeface="Calibri"/>
                <a:cs typeface="Calibri"/>
              </a:rPr>
              <a:t>ale</a:t>
            </a:r>
            <a:r>
              <a:rPr dirty="0" sz="2050" spc="-6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2050" spc="100">
                <a:solidFill>
                  <a:srgbClr val="646464"/>
                </a:solidFill>
                <a:latin typeface="Calibri"/>
                <a:cs typeface="Calibri"/>
              </a:rPr>
              <a:t>read</a:t>
            </a:r>
            <a:r>
              <a:rPr dirty="0" sz="2050" spc="3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2050" spc="110">
                <a:solidFill>
                  <a:srgbClr val="6B6B6B"/>
                </a:solidFill>
                <a:latin typeface="Calibri"/>
                <a:cs typeface="Calibri"/>
              </a:rPr>
              <a:t>and</a:t>
            </a:r>
            <a:r>
              <a:rPr dirty="0" sz="2050" spc="-5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2050" spc="110">
                <a:solidFill>
                  <a:srgbClr val="646464"/>
                </a:solidFill>
                <a:latin typeface="Calibri"/>
                <a:cs typeface="Calibri"/>
              </a:rPr>
              <a:t>256</a:t>
            </a:r>
            <a:r>
              <a:rPr dirty="0" sz="2050" spc="-75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2050" spc="-25">
                <a:solidFill>
                  <a:srgbClr val="54728E"/>
                </a:solidFill>
                <a:latin typeface="Calibri"/>
                <a:cs typeface="Calibri"/>
              </a:rPr>
              <a:t>x</a:t>
            </a:r>
            <a:r>
              <a:rPr dirty="0" sz="2050" spc="-225">
                <a:solidFill>
                  <a:srgbClr val="54728E"/>
                </a:solidFill>
                <a:latin typeface="Calibri"/>
                <a:cs typeface="Calibri"/>
              </a:rPr>
              <a:t> </a:t>
            </a:r>
            <a:r>
              <a:rPr dirty="0" sz="2050">
                <a:solidFill>
                  <a:srgbClr val="646464"/>
                </a:solidFill>
                <a:latin typeface="Calibri"/>
                <a:cs typeface="Calibri"/>
              </a:rPr>
              <a:t>256</a:t>
            </a:r>
            <a:r>
              <a:rPr dirty="0" sz="2050" spc="80">
                <a:solidFill>
                  <a:srgbClr val="646464"/>
                </a:solidFill>
                <a:latin typeface="Calibri"/>
                <a:cs typeface="Calibri"/>
              </a:rPr>
              <a:t>  </a:t>
            </a:r>
            <a:r>
              <a:rPr dirty="0" sz="2050">
                <a:solidFill>
                  <a:srgbClr val="676767"/>
                </a:solidFill>
                <a:latin typeface="Calibri"/>
                <a:cs typeface="Calibri"/>
              </a:rPr>
              <a:t>matrix</a:t>
            </a:r>
            <a:r>
              <a:rPr dirty="0" sz="2050" spc="7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dirty="0" sz="2050" spc="50">
                <a:solidFill>
                  <a:srgbClr val="666666"/>
                </a:solidFill>
                <a:latin typeface="Calibri"/>
                <a:cs typeface="Calibri"/>
              </a:rPr>
              <a:t>resize.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6186" y="5244993"/>
            <a:ext cx="4940935" cy="7023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90">
                <a:solidFill>
                  <a:srgbClr val="001836"/>
                </a:solidFill>
                <a:latin typeface="Arial MT"/>
                <a:cs typeface="Arial MT"/>
              </a:rPr>
              <a:t>Otsu</a:t>
            </a:r>
            <a:r>
              <a:rPr dirty="0" sz="2300" spc="-245">
                <a:solidFill>
                  <a:srgbClr val="001836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131313"/>
                </a:solidFill>
                <a:latin typeface="Arial MT"/>
                <a:cs typeface="Arial MT"/>
              </a:rPr>
              <a:t>Thresholding</a:t>
            </a:r>
            <a:endParaRPr sz="23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66666"/>
                </a:solidFill>
                <a:latin typeface="Arial MT"/>
                <a:cs typeface="Arial MT"/>
              </a:rPr>
              <a:t>Auto-</a:t>
            </a:r>
            <a:r>
              <a:rPr dirty="0" sz="2050" spc="55">
                <a:solidFill>
                  <a:srgbClr val="666666"/>
                </a:solidFill>
                <a:latin typeface="Arial MT"/>
                <a:cs typeface="Arial MT"/>
              </a:rPr>
              <a:t>b</a:t>
            </a:r>
            <a:r>
              <a:rPr dirty="0" sz="2050" spc="-2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96969"/>
                </a:solidFill>
                <a:latin typeface="Arial MT"/>
                <a:cs typeface="Arial MT"/>
              </a:rPr>
              <a:t>imodal</a:t>
            </a:r>
            <a:r>
              <a:rPr dirty="0" sz="2050" spc="14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050" spc="80">
                <a:solidFill>
                  <a:srgbClr val="5B5B5B"/>
                </a:solidFill>
                <a:latin typeface="Arial MT"/>
                <a:cs typeface="Arial MT"/>
              </a:rPr>
              <a:t>cutoN</a:t>
            </a:r>
            <a:r>
              <a:rPr dirty="0" sz="2050" spc="-9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26262"/>
                </a:solidFill>
                <a:latin typeface="Arial MT"/>
                <a:cs typeface="Arial MT"/>
              </a:rPr>
              <a:t>calculation</a:t>
            </a:r>
            <a:r>
              <a:rPr dirty="0" sz="2050" spc="7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2050" spc="-80">
                <a:solidFill>
                  <a:srgbClr val="F6F6F6"/>
                </a:solidFill>
                <a:latin typeface="Arial MT"/>
                <a:cs typeface="Arial MT"/>
              </a:rPr>
              <a:t>(T*</a:t>
            </a:r>
            <a:r>
              <a:rPr dirty="0" sz="2050" spc="23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2050" spc="-165">
                <a:solidFill>
                  <a:srgbClr val="6B6B6B"/>
                </a:solidFill>
                <a:latin typeface="Arial MT"/>
                <a:cs typeface="Arial MT"/>
              </a:rPr>
              <a:t>=</a:t>
            </a:r>
            <a:r>
              <a:rPr dirty="0" sz="2050" spc="114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676767"/>
                </a:solidFill>
                <a:latin typeface="Arial MT"/>
                <a:cs typeface="Arial MT"/>
              </a:rPr>
              <a:t>95).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6420" y="6847038"/>
            <a:ext cx="5442585" cy="7023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105">
                <a:solidFill>
                  <a:srgbClr val="080808"/>
                </a:solidFill>
                <a:latin typeface="Arial MT"/>
                <a:cs typeface="Arial MT"/>
              </a:rPr>
              <a:t>Morphological</a:t>
            </a:r>
            <a:r>
              <a:rPr dirty="0" sz="2300" spc="70">
                <a:solidFill>
                  <a:srgbClr val="080808"/>
                </a:solidFill>
                <a:latin typeface="Arial MT"/>
                <a:cs typeface="Arial MT"/>
              </a:rPr>
              <a:t> </a:t>
            </a:r>
            <a:r>
              <a:rPr dirty="0" sz="2300" spc="65">
                <a:solidFill>
                  <a:srgbClr val="0C0C0C"/>
                </a:solidFill>
                <a:latin typeface="Arial MT"/>
                <a:cs typeface="Arial MT"/>
              </a:rPr>
              <a:t>Filter</a:t>
            </a:r>
            <a:r>
              <a:rPr dirty="0" sz="2300" spc="-6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300" spc="35">
                <a:solidFill>
                  <a:srgbClr val="111111"/>
                </a:solidFill>
                <a:latin typeface="Arial MT"/>
                <a:cs typeface="Arial MT"/>
              </a:rPr>
              <a:t>Suite</a:t>
            </a:r>
            <a:endParaRPr sz="2300">
              <a:latin typeface="Arial MT"/>
              <a:cs typeface="Arial MT"/>
            </a:endParaRPr>
          </a:p>
          <a:p>
            <a:pPr marL="19050">
              <a:lnSpc>
                <a:spcPct val="100000"/>
              </a:lnSpc>
              <a:spcBef>
                <a:spcPts val="90"/>
              </a:spcBef>
            </a:pPr>
            <a:r>
              <a:rPr dirty="0" sz="2050" spc="-85">
                <a:solidFill>
                  <a:srgbClr val="647082"/>
                </a:solidFill>
                <a:latin typeface="Arial MT"/>
                <a:cs typeface="Arial MT"/>
              </a:rPr>
              <a:t>Ap</a:t>
            </a:r>
            <a:r>
              <a:rPr dirty="0" sz="2050" spc="-310">
                <a:solidFill>
                  <a:srgbClr val="64708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0758C"/>
                </a:solidFill>
                <a:latin typeface="Arial MT"/>
                <a:cs typeface="Arial MT"/>
              </a:rPr>
              <a:t>p</a:t>
            </a:r>
            <a:r>
              <a:rPr dirty="0" sz="2050">
                <a:solidFill>
                  <a:srgbClr val="676767"/>
                </a:solidFill>
                <a:latin typeface="Arial MT"/>
                <a:cs typeface="Arial MT"/>
              </a:rPr>
              <a:t>ly</a:t>
            </a:r>
            <a:r>
              <a:rPr dirty="0" sz="2050" spc="9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050" spc="-35">
                <a:solidFill>
                  <a:srgbClr val="666666"/>
                </a:solidFill>
                <a:latin typeface="Arial MT"/>
                <a:cs typeface="Arial MT"/>
              </a:rPr>
              <a:t>Erosion.</a:t>
            </a:r>
            <a:r>
              <a:rPr dirty="0" sz="2050" spc="1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76767"/>
                </a:solidFill>
                <a:latin typeface="Arial MT"/>
                <a:cs typeface="Arial MT"/>
              </a:rPr>
              <a:t>Dilation.</a:t>
            </a:r>
            <a:r>
              <a:rPr dirty="0" sz="2050" spc="-1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46464"/>
                </a:solidFill>
                <a:latin typeface="Arial MT"/>
                <a:cs typeface="Arial MT"/>
              </a:rPr>
              <a:t>Opening.</a:t>
            </a:r>
            <a:r>
              <a:rPr dirty="0" sz="2050" spc="85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798EA5"/>
                </a:solidFill>
                <a:latin typeface="Arial MT"/>
                <a:cs typeface="Arial MT"/>
              </a:rPr>
              <a:t>and</a:t>
            </a:r>
            <a:r>
              <a:rPr dirty="0" sz="2050" spc="110">
                <a:solidFill>
                  <a:srgbClr val="798EA5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666666"/>
                </a:solidFill>
                <a:latin typeface="Arial MT"/>
                <a:cs typeface="Arial MT"/>
              </a:rPr>
              <a:t>Closing.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6705" y="8449084"/>
            <a:ext cx="5897245" cy="7023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60">
                <a:solidFill>
                  <a:srgbClr val="0C0C0C"/>
                </a:solidFill>
                <a:latin typeface="Arial MT"/>
                <a:cs typeface="Arial MT"/>
              </a:rPr>
              <a:t>Boundary</a:t>
            </a:r>
            <a:r>
              <a:rPr dirty="0" sz="2300" spc="12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81818"/>
                </a:solidFill>
                <a:latin typeface="Arial MT"/>
                <a:cs typeface="Arial MT"/>
              </a:rPr>
              <a:t>&amp;</a:t>
            </a:r>
            <a:r>
              <a:rPr dirty="0" sz="2300" spc="-1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300" spc="65">
                <a:solidFill>
                  <a:srgbClr val="151515"/>
                </a:solidFill>
                <a:latin typeface="Arial MT"/>
                <a:cs typeface="Arial MT"/>
              </a:rPr>
              <a:t>Overlay</a:t>
            </a:r>
            <a:r>
              <a:rPr dirty="0" sz="230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111111"/>
                </a:solidFill>
                <a:latin typeface="Arial MT"/>
                <a:cs typeface="Arial MT"/>
              </a:rPr>
              <a:t>Rendering</a:t>
            </a:r>
            <a:endParaRPr sz="23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90"/>
              </a:spcBef>
            </a:pPr>
            <a:r>
              <a:rPr dirty="0" sz="2050">
                <a:solidFill>
                  <a:srgbClr val="696969"/>
                </a:solidFill>
                <a:latin typeface="Arial MT"/>
                <a:cs typeface="Arial MT"/>
              </a:rPr>
              <a:t>Extract</a:t>
            </a:r>
            <a:r>
              <a:rPr dirty="0" sz="2050" spc="18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06060"/>
                </a:solidFill>
                <a:latin typeface="Arial MT"/>
                <a:cs typeface="Arial MT"/>
              </a:rPr>
              <a:t>contour</a:t>
            </a:r>
            <a:r>
              <a:rPr dirty="0" sz="2050" spc="10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76767"/>
                </a:solidFill>
                <a:latin typeface="Arial MT"/>
                <a:cs typeface="Arial MT"/>
              </a:rPr>
              <a:t>diNerenc</a:t>
            </a:r>
            <a:r>
              <a:rPr dirty="0" sz="2050" spc="-16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96969"/>
                </a:solidFill>
                <a:latin typeface="Arial MT"/>
                <a:cs typeface="Arial MT"/>
              </a:rPr>
              <a:t>e</a:t>
            </a:r>
            <a:r>
              <a:rPr dirty="0" sz="2050" spc="-2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878E9E"/>
                </a:solidFill>
                <a:latin typeface="Arial MT"/>
                <a:cs typeface="Arial MT"/>
              </a:rPr>
              <a:t>and</a:t>
            </a:r>
            <a:r>
              <a:rPr dirty="0" sz="2050" spc="20">
                <a:solidFill>
                  <a:srgbClr val="878E9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96969"/>
                </a:solidFill>
                <a:latin typeface="Arial MT"/>
                <a:cs typeface="Arial MT"/>
              </a:rPr>
              <a:t>render</a:t>
            </a:r>
            <a:r>
              <a:rPr dirty="0" sz="2050" spc="35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696969"/>
                </a:solidFill>
                <a:latin typeface="Arial MT"/>
                <a:cs typeface="Arial MT"/>
              </a:rPr>
              <a:t>red</a:t>
            </a:r>
            <a:r>
              <a:rPr dirty="0" sz="2050" spc="-2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646464"/>
                </a:solidFill>
                <a:latin typeface="Arial MT"/>
                <a:cs typeface="Arial MT"/>
              </a:rPr>
              <a:t>overlay.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8375" y="756255"/>
            <a:ext cx="94488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75">
                <a:solidFill>
                  <a:srgbClr val="0087C8"/>
                </a:solidFill>
                <a:latin typeface="Arial MT"/>
                <a:cs typeface="Arial MT"/>
              </a:rPr>
              <a:t>I</a:t>
            </a:r>
            <a:r>
              <a:rPr dirty="0" sz="1650" spc="75">
                <a:solidFill>
                  <a:srgbClr val="0085D1"/>
                </a:solidFill>
                <a:latin typeface="Arial MT"/>
                <a:cs typeface="Arial MT"/>
              </a:rPr>
              <a:t>M</a:t>
            </a:r>
            <a:r>
              <a:rPr dirty="0" sz="1650" spc="-90">
                <a:solidFill>
                  <a:srgbClr val="0085D1"/>
                </a:solidFill>
                <a:latin typeface="Arial MT"/>
                <a:cs typeface="Arial MT"/>
              </a:rPr>
              <a:t> </a:t>
            </a:r>
            <a:r>
              <a:rPr dirty="0" sz="1650" spc="85">
                <a:solidFill>
                  <a:srgbClr val="0185CD"/>
                </a:solidFill>
                <a:latin typeface="Arial MT"/>
                <a:cs typeface="Arial MT"/>
              </a:rPr>
              <a:t>PACT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dirty="0" spc="100"/>
              <a:t>Clinical</a:t>
            </a:r>
            <a:r>
              <a:rPr dirty="0" spc="90"/>
              <a:t> </a:t>
            </a:r>
            <a:r>
              <a:rPr dirty="0" spc="-330">
                <a:solidFill>
                  <a:srgbClr val="181818"/>
                </a:solidFill>
              </a:rPr>
              <a:t>&amp;</a:t>
            </a:r>
            <a:r>
              <a:rPr dirty="0" spc="-100">
                <a:solidFill>
                  <a:srgbClr val="181818"/>
                </a:solidFill>
              </a:rPr>
              <a:t> </a:t>
            </a:r>
            <a:r>
              <a:rPr dirty="0" spc="170"/>
              <a:t>Computational</a:t>
            </a:r>
            <a:r>
              <a:rPr dirty="0" spc="285"/>
              <a:t> </a:t>
            </a:r>
            <a:r>
              <a:rPr dirty="0" spc="-10">
                <a:solidFill>
                  <a:srgbClr val="0C0C0C"/>
                </a:solidFill>
              </a:rPr>
              <a:t>Takeawags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06079" y="6067577"/>
            <a:ext cx="4274820" cy="158559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2800" spc="105">
                <a:latin typeface="Arial MT"/>
                <a:cs typeface="Arial MT"/>
              </a:rPr>
              <a:t>Ultra-</a:t>
            </a:r>
            <a:r>
              <a:rPr dirty="0" sz="2800" spc="130">
                <a:latin typeface="Arial MT"/>
                <a:cs typeface="Arial MT"/>
              </a:rPr>
              <a:t>Fast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50">
                <a:solidFill>
                  <a:srgbClr val="111111"/>
                </a:solidFill>
                <a:latin typeface="Arial MT"/>
                <a:cs typeface="Arial MT"/>
              </a:rPr>
              <a:t>Execution</a:t>
            </a:r>
            <a:endParaRPr sz="2800">
              <a:latin typeface="Arial MT"/>
              <a:cs typeface="Arial MT"/>
            </a:endParaRPr>
          </a:p>
          <a:p>
            <a:pPr marL="22225" marR="5080" indent="-3810">
              <a:lnSpc>
                <a:spcPts val="2840"/>
              </a:lnSpc>
              <a:spcBef>
                <a:spcPts val="1625"/>
              </a:spcBef>
            </a:pPr>
            <a:r>
              <a:rPr dirty="0" sz="2450" spc="-185">
                <a:solidFill>
                  <a:srgbClr val="4D4D4D"/>
                </a:solidFill>
                <a:latin typeface="Arial MT"/>
                <a:cs typeface="Arial MT"/>
              </a:rPr>
              <a:t>Sub—</a:t>
            </a:r>
            <a:r>
              <a:rPr dirty="0" sz="2450" spc="-120">
                <a:solidFill>
                  <a:srgbClr val="4D4D4D"/>
                </a:solidFill>
                <a:latin typeface="Arial MT"/>
                <a:cs typeface="Arial MT"/>
              </a:rPr>
              <a:t>millisecond</a:t>
            </a:r>
            <a:r>
              <a:rPr dirty="0" sz="2450" spc="-1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444444"/>
                </a:solidFill>
                <a:latin typeface="Arial MT"/>
                <a:cs typeface="Arial MT"/>
              </a:rPr>
              <a:t>processing</a:t>
            </a:r>
            <a:r>
              <a:rPr dirty="0" sz="2450" spc="-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4B4B4B"/>
                </a:solidFill>
                <a:latin typeface="Arial MT"/>
                <a:cs typeface="Arial MT"/>
              </a:rPr>
              <a:t>per </a:t>
            </a:r>
            <a:r>
              <a:rPr dirty="0" sz="2450" spc="-10">
                <a:solidFill>
                  <a:srgbClr val="494949"/>
                </a:solidFill>
                <a:latin typeface="Arial MT"/>
                <a:cs typeface="Arial MT"/>
              </a:rPr>
              <a:t>frame.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1527" y="6067577"/>
            <a:ext cx="4226560" cy="1585595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795"/>
              </a:spcBef>
            </a:pPr>
            <a:r>
              <a:rPr dirty="0" sz="2800" spc="110">
                <a:solidFill>
                  <a:srgbClr val="0C0C0C"/>
                </a:solidFill>
                <a:latin typeface="Arial MT"/>
                <a:cs typeface="Arial MT"/>
              </a:rPr>
              <a:t>Pre-</a:t>
            </a:r>
            <a:r>
              <a:rPr dirty="0" sz="2800" spc="125">
                <a:solidFill>
                  <a:srgbClr val="0C0C0C"/>
                </a:solidFill>
                <a:latin typeface="Arial MT"/>
                <a:cs typeface="Arial MT"/>
              </a:rPr>
              <a:t>Segmentation</a:t>
            </a:r>
            <a:r>
              <a:rPr dirty="0" sz="2800" spc="-32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800" spc="145">
                <a:solidFill>
                  <a:srgbClr val="111111"/>
                </a:solidFill>
                <a:latin typeface="Arial MT"/>
                <a:cs typeface="Arial MT"/>
              </a:rPr>
              <a:t>Utility</a:t>
            </a:r>
            <a:endParaRPr sz="2800">
              <a:latin typeface="Arial MT"/>
              <a:cs typeface="Arial MT"/>
            </a:endParaRPr>
          </a:p>
          <a:p>
            <a:pPr marL="21590" marR="355600" indent="-9525">
              <a:lnSpc>
                <a:spcPts val="2840"/>
              </a:lnSpc>
              <a:spcBef>
                <a:spcPts val="1625"/>
              </a:spcBef>
            </a:pPr>
            <a:r>
              <a:rPr dirty="0" sz="2450" spc="-45">
                <a:solidFill>
                  <a:srgbClr val="505050"/>
                </a:solidFill>
                <a:latin typeface="Arial MT"/>
                <a:cs typeface="Arial MT"/>
              </a:rPr>
              <a:t>Ideal</a:t>
            </a:r>
            <a:r>
              <a:rPr dirty="0" sz="2450" spc="-2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484848"/>
                </a:solidFill>
                <a:latin typeface="Arial MT"/>
                <a:cs typeface="Arial MT"/>
              </a:rPr>
              <a:t>preprocessing</a:t>
            </a:r>
            <a:r>
              <a:rPr dirty="0" sz="2450" spc="-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444444"/>
                </a:solidFill>
                <a:latin typeface="Arial MT"/>
                <a:cs typeface="Arial MT"/>
              </a:rPr>
              <a:t>for</a:t>
            </a:r>
            <a:r>
              <a:rPr dirty="0" sz="2450" spc="-17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4B4B4B"/>
                </a:solidFill>
                <a:latin typeface="Arial MT"/>
                <a:cs typeface="Arial MT"/>
              </a:rPr>
              <a:t>deep </a:t>
            </a:r>
            <a:r>
              <a:rPr dirty="0" sz="2450" spc="-10">
                <a:solidFill>
                  <a:srgbClr val="4F4F4F"/>
                </a:solidFill>
                <a:latin typeface="Arial MT"/>
                <a:cs typeface="Arial MT"/>
              </a:rPr>
              <a:t>learning.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08006" y="6247907"/>
            <a:ext cx="4644390" cy="1229360"/>
          </a:xfrm>
          <a:prstGeom prst="rect">
            <a:avLst/>
          </a:prstGeom>
        </p:spPr>
        <p:txBody>
          <a:bodyPr wrap="square" lIns="0" tIns="248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dirty="0" sz="2700" spc="130">
                <a:solidFill>
                  <a:srgbClr val="0F0F0F"/>
                </a:solidFill>
                <a:latin typeface="Arial MT"/>
                <a:cs typeface="Arial MT"/>
              </a:rPr>
              <a:t>Deterministic</a:t>
            </a:r>
            <a:r>
              <a:rPr dirty="0" sz="2700" spc="10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700" spc="80">
                <a:solidFill>
                  <a:srgbClr val="111111"/>
                </a:solidFill>
                <a:latin typeface="Arial MT"/>
                <a:cs typeface="Arial MT"/>
              </a:rPr>
              <a:t>Precision</a:t>
            </a:r>
            <a:endParaRPr sz="270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614"/>
              </a:spcBef>
            </a:pPr>
            <a:r>
              <a:rPr dirty="0" sz="2300">
                <a:solidFill>
                  <a:srgbClr val="444444"/>
                </a:solidFill>
                <a:latin typeface="Arial MT"/>
                <a:cs typeface="Arial MT"/>
              </a:rPr>
              <a:t>Zero</a:t>
            </a:r>
            <a:r>
              <a:rPr dirty="0" sz="2300" spc="-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565656"/>
                </a:solidFill>
                <a:latin typeface="Arial MT"/>
                <a:cs typeface="Arial MT"/>
              </a:rPr>
              <a:t>training</a:t>
            </a:r>
            <a:r>
              <a:rPr dirty="0" sz="2300" spc="65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4B4B4B"/>
                </a:solidFill>
                <a:latin typeface="Arial MT"/>
                <a:cs typeface="Arial MT"/>
              </a:rPr>
              <a:t>dataset</a:t>
            </a:r>
            <a:r>
              <a:rPr dirty="0" sz="2300" spc="21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44444"/>
                </a:solidFill>
                <a:latin typeface="Arial MT"/>
                <a:cs typeface="Arial MT"/>
              </a:rPr>
              <a:t>requirements.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2026-08-31T05:59:14Z</dcterms:created>
  <dcterms:modified xsi:type="dcterms:W3CDTF">2026-08-31T05:59:14Z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2026-08-31T00:00:00Z</vt:filetime>
  </property>
  <property fmtid="{D5CDD505-2E9C-101B-9397-08002B2CF9AE}" pid="4" name="LastSaved">
    <vt:filetime>2026-08-31T00:00:00Z</vt:filetime>
  </property>
  <property fmtid="{D5CDD505-2E9C-101B-9397-08002B2CF9AE}" pid="5" name="Producer">
    <vt:lpwstr>iLovePDF</vt:lpwstr>
  </property>
</Properties>
</file>